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aleway"/>
      <p:regular r:id="rId33"/>
      <p:bold r:id="rId34"/>
      <p:italic r:id="rId35"/>
      <p:boldItalic r:id="rId36"/>
    </p:embeddedFont>
    <p:embeddedFont>
      <p:font typeface="Montserrat"/>
      <p:regular r:id="rId37"/>
      <p:bold r:id="rId38"/>
      <p:italic r:id="rId39"/>
      <p:boldItalic r:id="rId40"/>
    </p:embeddedFont>
    <p:embeddedFont>
      <p:font typeface="Lato"/>
      <p:regular r:id="rId41"/>
      <p:bold r:id="rId42"/>
      <p:italic r:id="rId43"/>
      <p:boldItalic r:id="rId44"/>
    </p:embeddedFont>
    <p:embeddedFont>
      <p:font typeface="Average"/>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4.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6.xml"/><Relationship Id="rId44" Type="http://schemas.openxmlformats.org/officeDocument/2006/relationships/font" Target="fonts/Lato-boldItalic.fntdata"/><Relationship Id="rId21" Type="http://schemas.openxmlformats.org/officeDocument/2006/relationships/slide" Target="slides/slide15.xml"/><Relationship Id="rId43" Type="http://schemas.openxmlformats.org/officeDocument/2006/relationships/font" Target="fonts/Lato-italic.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Averag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aleway-italic.fntdata"/><Relationship Id="rId12" Type="http://schemas.openxmlformats.org/officeDocument/2006/relationships/slide" Target="slides/slide6.xml"/><Relationship Id="rId34" Type="http://schemas.openxmlformats.org/officeDocument/2006/relationships/font" Target="fonts/Raleway-bold.fntdata"/><Relationship Id="rId15" Type="http://schemas.openxmlformats.org/officeDocument/2006/relationships/slide" Target="slides/slide9.xml"/><Relationship Id="rId37" Type="http://schemas.openxmlformats.org/officeDocument/2006/relationships/font" Target="fonts/Montserrat-regular.fntdata"/><Relationship Id="rId14" Type="http://schemas.openxmlformats.org/officeDocument/2006/relationships/slide" Target="slides/slide8.xml"/><Relationship Id="rId36" Type="http://schemas.openxmlformats.org/officeDocument/2006/relationships/font" Target="fonts/Raleway-boldItalic.fntdata"/><Relationship Id="rId17" Type="http://schemas.openxmlformats.org/officeDocument/2006/relationships/slide" Target="slides/slide11.xml"/><Relationship Id="rId39" Type="http://schemas.openxmlformats.org/officeDocument/2006/relationships/font" Target="fonts/Montserrat-italic.fntdata"/><Relationship Id="rId16" Type="http://schemas.openxmlformats.org/officeDocument/2006/relationships/slide" Target="slides/slide10.xml"/><Relationship Id="rId38" Type="http://schemas.openxmlformats.org/officeDocument/2006/relationships/font" Target="fonts/Montserra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9f26bd1938_1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9f26bd1938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morning, my name is  and my project is on parallelizing the restricted Boltzmann machine (RBM). RBMs are a popular machine learning model used for a variety of tasks, including dimensionality reduction, feature learning, and many body quantum mechanics. There is scope for parallelizing RBM training, particularly during Gibbs sampling and normalization.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9f26bd1938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9f26bd1938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solidFill>
                  <a:schemeClr val="dk1"/>
                </a:solidFill>
              </a:rPr>
              <a:t>They Enhance features or highlight important factors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f26bd1938_0_1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9f26bd1938_0_1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5e1cf283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5e1cf283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the RBM </a:t>
            </a:r>
            <a:r>
              <a:rPr lang="en"/>
              <a:t>algorithm</a:t>
            </a:r>
            <a:r>
              <a:rPr lang="en"/>
              <a:t> it consists of matrix of W weights. Each weight is associated with connection between hidden and </a:t>
            </a:r>
            <a:r>
              <a:rPr lang="en"/>
              <a:t>visible</a:t>
            </a:r>
            <a:r>
              <a:rPr lang="en"/>
              <a:t> layers. </a:t>
            </a:r>
            <a:endParaRPr/>
          </a:p>
          <a:p>
            <a:pPr indent="0" lvl="0" marL="0" rtl="0" algn="l">
              <a:spcBef>
                <a:spcPts val="0"/>
              </a:spcBef>
              <a:spcAft>
                <a:spcPts val="0"/>
              </a:spcAft>
              <a:buNone/>
            </a:pPr>
            <a:r>
              <a:rPr lang="en"/>
              <a:t>a</a:t>
            </a:r>
            <a:r>
              <a:rPr lang="en"/>
              <a:t> and b  are biases, </a:t>
            </a:r>
            <a:endParaRPr/>
          </a:p>
          <a:p>
            <a:pPr indent="0" lvl="0" marL="0" rtl="0" algn="l">
              <a:spcBef>
                <a:spcPts val="0"/>
              </a:spcBef>
              <a:spcAft>
                <a:spcPts val="0"/>
              </a:spcAft>
              <a:buNone/>
            </a:pPr>
            <a:r>
              <a:rPr lang="en"/>
              <a:t>visible and hidden layer nodes(their respective weights), </a:t>
            </a:r>
            <a:endParaRPr/>
          </a:p>
          <a:p>
            <a:pPr indent="0" lvl="0" marL="0" rtl="0" algn="l">
              <a:spcBef>
                <a:spcPts val="0"/>
              </a:spcBef>
              <a:spcAft>
                <a:spcPts val="0"/>
              </a:spcAft>
              <a:buNone/>
            </a:pPr>
            <a:r>
              <a:rPr lang="en"/>
              <a:t>W is weight between hidden and visible node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Clr>
                <a:schemeClr val="dk1"/>
              </a:buClr>
              <a:buSzPts val="1100"/>
              <a:buFont typeface="Arial"/>
              <a:buNone/>
            </a:pPr>
            <a:r>
              <a:rPr lang="en"/>
              <a:t>Imagine you are trying to roll a ball down a hill. The ball will roll down the hill until it reaches the bottom, where the energy is lowest.</a:t>
            </a:r>
            <a:endParaRPr/>
          </a:p>
          <a:p>
            <a:pPr indent="0" lvl="0" marL="0" rtl="0" algn="l">
              <a:spcBef>
                <a:spcPts val="0"/>
              </a:spcBef>
              <a:spcAft>
                <a:spcPts val="0"/>
              </a:spcAft>
              <a:buClr>
                <a:schemeClr val="dk1"/>
              </a:buClr>
              <a:buSzPts val="1100"/>
              <a:buFont typeface="Arial"/>
              <a:buNone/>
            </a:pPr>
            <a:r>
              <a:rPr lang="en"/>
              <a:t>The energy function of an RBM is like the hill. The visible and hidden layer activations are like the ball. The RBM is trying to roll the ball down the hill until it reaches the bottom, where the energy is lowest.</a:t>
            </a:r>
            <a:endParaRPr/>
          </a:p>
          <a:p>
            <a:pPr indent="0" lvl="0" marL="0" rtl="0" algn="l">
              <a:spcBef>
                <a:spcPts val="0"/>
              </a:spcBef>
              <a:spcAft>
                <a:spcPts val="0"/>
              </a:spcAft>
              <a:buClr>
                <a:schemeClr val="dk1"/>
              </a:buClr>
              <a:buSzPts val="1100"/>
              <a:buFont typeface="Arial"/>
              <a:buNone/>
            </a:pPr>
            <a:r>
              <a:rPr lang="en"/>
              <a:t>The lower the energy, the more likely the visible and hidden layer activations are to be compatible. This is because the RBM is trying to learn the probability distribution of the input data.</a:t>
            </a:r>
            <a:endParaRPr/>
          </a:p>
          <a:p>
            <a:pPr indent="0" lvl="0" marL="0" rtl="0" algn="l">
              <a:spcBef>
                <a:spcPts val="0"/>
              </a:spcBef>
              <a:spcAft>
                <a:spcPts val="0"/>
              </a:spcAft>
              <a:buClr>
                <a:schemeClr val="dk1"/>
              </a:buClr>
              <a:buSzPts val="1100"/>
              <a:buFont typeface="Arial"/>
              <a:buNone/>
            </a:pPr>
            <a:r>
              <a:rPr lang="en"/>
              <a:t> In order to learn the probability distribution of the input data, the RBM needs to minimize the energy function. This is why the RBM's energy function is negative.</a:t>
            </a:r>
            <a:endParaRPr/>
          </a:p>
          <a:p>
            <a:pPr indent="0" lvl="0" marL="0" rtl="0" algn="l">
              <a:spcBef>
                <a:spcPts val="0"/>
              </a:spcBef>
              <a:spcAft>
                <a:spcPts val="0"/>
              </a:spcAft>
              <a:buClr>
                <a:schemeClr val="dk1"/>
              </a:buClr>
              <a:buSzPts val="1100"/>
              <a:buFont typeface="Arial"/>
              <a:buNone/>
            </a:pPr>
            <a:r>
              <a:rPr lang="en"/>
              <a:t>Here is a more concrete example:</a:t>
            </a:r>
            <a:endParaRPr/>
          </a:p>
          <a:p>
            <a:pPr indent="0" lvl="0" marL="0" rtl="0" algn="l">
              <a:spcBef>
                <a:spcPts val="0"/>
              </a:spcBef>
              <a:spcAft>
                <a:spcPts val="0"/>
              </a:spcAft>
              <a:buClr>
                <a:schemeClr val="dk1"/>
              </a:buClr>
              <a:buSzPts val="1100"/>
              <a:buFont typeface="Arial"/>
              <a:buNone/>
            </a:pPr>
            <a:r>
              <a:rPr lang="en"/>
              <a:t>Imagine you are trying to learn the probability distribution of the following binary data:</a:t>
            </a:r>
            <a:endParaRPr/>
          </a:p>
          <a:p>
            <a:pPr indent="0" lvl="0" marL="0" rtl="0" algn="l">
              <a:spcBef>
                <a:spcPts val="0"/>
              </a:spcBef>
              <a:spcAft>
                <a:spcPts val="0"/>
              </a:spcAft>
              <a:buClr>
                <a:schemeClr val="dk1"/>
              </a:buClr>
              <a:buSzPts val="1100"/>
              <a:buFont typeface="Arial"/>
              <a:buNone/>
            </a:pPr>
            <a:r>
              <a:rPr lang="en"/>
              <a:t>[0, 1, 0, 1]</a:t>
            </a:r>
            <a:endParaRPr/>
          </a:p>
          <a:p>
            <a:pPr indent="0" lvl="0" marL="0" rtl="0" algn="l">
              <a:spcBef>
                <a:spcPts val="0"/>
              </a:spcBef>
              <a:spcAft>
                <a:spcPts val="0"/>
              </a:spcAft>
              <a:buClr>
                <a:schemeClr val="dk1"/>
              </a:buClr>
              <a:buSzPts val="1100"/>
              <a:buFont typeface="Arial"/>
              <a:buNone/>
            </a:pPr>
            <a:r>
              <a:rPr lang="en"/>
              <a:t>You can start by randomly initializing the visible and hidden layer activations. The energy function will be high because the visible and hidden layer activations are not compatible.</a:t>
            </a:r>
            <a:endParaRPr/>
          </a:p>
          <a:p>
            <a:pPr indent="0" lvl="0" marL="0" rtl="0" algn="l">
              <a:spcBef>
                <a:spcPts val="0"/>
              </a:spcBef>
              <a:spcAft>
                <a:spcPts val="0"/>
              </a:spcAft>
              <a:buClr>
                <a:schemeClr val="dk1"/>
              </a:buClr>
              <a:buSzPts val="1100"/>
              <a:buFont typeface="Arial"/>
              <a:buNone/>
            </a:pPr>
            <a:r>
              <a:rPr lang="en"/>
              <a:t>You can then use the contrastive divergence algorithm to update the weights of the RBM. The contrastive divergence algorithm will update the weights in a way that minimizes the energy function.</a:t>
            </a:r>
            <a:endParaRPr/>
          </a:p>
          <a:p>
            <a:pPr indent="0" lvl="0" marL="0" rtl="0" algn="l">
              <a:spcBef>
                <a:spcPts val="0"/>
              </a:spcBef>
              <a:spcAft>
                <a:spcPts val="0"/>
              </a:spcAft>
              <a:buNone/>
            </a:pPr>
            <a:r>
              <a:rPr lang="en"/>
              <a:t>After a certain number of iterations, the contrastive divergence algorithm will converge. The RBM will have learned the probability distribution of the input data, and the energy function will be low.</a:t>
            </a:r>
            <a:endParaRPr/>
          </a:p>
          <a:p>
            <a:pPr indent="0" lvl="0" marL="0" rtl="0" algn="l">
              <a:spcBef>
                <a:spcPts val="0"/>
              </a:spcBef>
              <a:spcAft>
                <a:spcPts val="0"/>
              </a:spcAft>
              <a:buNone/>
            </a:pPr>
            <a:r>
              <a:rPr lang="en"/>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5e1cf28322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5e1cf28322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this is the training algorithm used for our model. For RBM we mostly use Contrastive divergence algorithm which was originally used to train </a:t>
            </a:r>
            <a:r>
              <a:rPr lang="en"/>
              <a:t>Product of Experts </a:t>
            </a:r>
            <a:r>
              <a:rPr lang="en"/>
              <a:t>models (which highlights underlying </a:t>
            </a:r>
            <a:r>
              <a:rPr lang="en"/>
              <a:t>structures</a:t>
            </a:r>
            <a:r>
              <a:rPr lang="en"/>
              <a:t>). In simple terms we would be training Gibbs samples which is a Markov chain Monte Carlo algorithm.(for obtaining a sequence of observations which are approximated from a specified multivariate probability distribution, when direct sampling is difficult)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969e55f9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969e55f9f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t>
            </a:r>
            <a:r>
              <a:rPr lang="en"/>
              <a:t>approach</a:t>
            </a:r>
            <a:r>
              <a:rPr lang="en"/>
              <a:t> to project was not this perfect as the model, initializing the environment will need execution was pretty difficult. Applying </a:t>
            </a:r>
            <a:r>
              <a:rPr lang="en"/>
              <a:t>parallelization</a:t>
            </a:r>
            <a:r>
              <a:rPr lang="en"/>
              <a:t> techniques and including libraries was </a:t>
            </a:r>
            <a:r>
              <a:rPr lang="en"/>
              <a:t>daunting</a:t>
            </a:r>
            <a:r>
              <a:rPr lang="en"/>
              <a:t> task for me. Every time we have to change the </a:t>
            </a:r>
            <a:r>
              <a:rPr lang="en"/>
              <a:t>environment to suitable libraries.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9f26bd1938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9f26bd1938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project was done in python jupyter notebook. </a:t>
            </a:r>
            <a:r>
              <a:rPr lang="en"/>
              <a:t>Anaconda</a:t>
            </a:r>
            <a:r>
              <a:rPr lang="en"/>
              <a:t> was used to set an </a:t>
            </a:r>
            <a:r>
              <a:rPr lang="en"/>
              <a:t>environment</a:t>
            </a:r>
            <a:r>
              <a:rPr lang="en"/>
              <a:t> which greatly helped in the project. Tensorflow was used to train the gibbs samples. As for parallelization we used Nvidia cuda toolkit and and tensorflow library(past tensorflow gpu)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9f26bd1938_0_1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9f26bd1938_0_1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have used my laptop to compute the results. Few of the python </a:t>
            </a:r>
            <a:r>
              <a:rPr lang="en"/>
              <a:t>libraries</a:t>
            </a:r>
            <a:r>
              <a:rPr lang="en"/>
              <a:t> i used in this project. I had to revert few version each time i started using a library. Working of GPU in tensorflow was a bit tricky.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9f26bd1938_0_1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9f26bd1938_0_1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9f26bd1938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9f26bd1938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should have been a flowchart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9f26bd1938_0_1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9f26bd1938_0_1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f26bd1938_0_1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9f26bd1938_0_1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9f26bd1938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9f26bd1938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f26bd193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9f26bd19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9f26bd1938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9f26bd1938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9f26bd1938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9f26bd1938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9f26bd1938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9f26bd1938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9f26bd1938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9f26bd193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9f26bd193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9f26bd1938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9f26bd1938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9f26bd1938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9f26bd193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9f26bd1938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9f26bd1938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9f26bd1938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969e55f9fa_1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969e55f9fa_1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9f26bd1938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9f26bd1938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969e55f9fa_1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969e55f9fa_1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14"/>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grpSp>
        <p:nvGrpSpPr>
          <p:cNvPr id="65" name="Google Shape;65;p15"/>
          <p:cNvGrpSpPr/>
          <p:nvPr/>
        </p:nvGrpSpPr>
        <p:grpSpPr>
          <a:xfrm>
            <a:off x="4406400" y="0"/>
            <a:ext cx="4737600" cy="5143065"/>
            <a:chOff x="4406400" y="0"/>
            <a:chExt cx="4737600" cy="5143065"/>
          </a:xfrm>
        </p:grpSpPr>
        <p:sp>
          <p:nvSpPr>
            <p:cNvPr id="66" name="Google Shape;66;p1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1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6" name="Shape 86"/>
        <p:cNvGrpSpPr/>
        <p:nvPr/>
      </p:nvGrpSpPr>
      <p:grpSpPr>
        <a:xfrm>
          <a:off x="0" y="0"/>
          <a:ext cx="0" cy="0"/>
          <a:chOff x="0" y="0"/>
          <a:chExt cx="0" cy="0"/>
        </a:xfrm>
      </p:grpSpPr>
      <p:grpSp>
        <p:nvGrpSpPr>
          <p:cNvPr id="87" name="Google Shape;87;p16"/>
          <p:cNvGrpSpPr/>
          <p:nvPr/>
        </p:nvGrpSpPr>
        <p:grpSpPr>
          <a:xfrm>
            <a:off x="0" y="381001"/>
            <a:ext cx="1037850" cy="1016287"/>
            <a:chOff x="0" y="381001"/>
            <a:chExt cx="1037850" cy="1016287"/>
          </a:xfrm>
        </p:grpSpPr>
        <p:sp>
          <p:nvSpPr>
            <p:cNvPr id="88" name="Google Shape;88;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7"/>
          <p:cNvGrpSpPr/>
          <p:nvPr/>
        </p:nvGrpSpPr>
        <p:grpSpPr>
          <a:xfrm>
            <a:off x="0" y="381001"/>
            <a:ext cx="1037850" cy="1016287"/>
            <a:chOff x="0" y="381001"/>
            <a:chExt cx="1037850" cy="1016287"/>
          </a:xfrm>
        </p:grpSpPr>
        <p:sp>
          <p:nvSpPr>
            <p:cNvPr id="95" name="Google Shape;9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8" name="Google Shape;98;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9" name="Google Shape;99;p1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00" name="Google Shape;10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8"/>
          <p:cNvGrpSpPr/>
          <p:nvPr/>
        </p:nvGrpSpPr>
        <p:grpSpPr>
          <a:xfrm>
            <a:off x="0" y="381001"/>
            <a:ext cx="1037850" cy="1016287"/>
            <a:chOff x="0" y="381001"/>
            <a:chExt cx="1037850" cy="1016287"/>
          </a:xfrm>
        </p:grpSpPr>
        <p:sp>
          <p:nvSpPr>
            <p:cNvPr id="103" name="Google Shape;10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9"/>
          <p:cNvGrpSpPr/>
          <p:nvPr/>
        </p:nvGrpSpPr>
        <p:grpSpPr>
          <a:xfrm>
            <a:off x="0" y="381001"/>
            <a:ext cx="1037850" cy="1016287"/>
            <a:chOff x="0" y="381001"/>
            <a:chExt cx="1037850" cy="1016287"/>
          </a:xfrm>
        </p:grpSpPr>
        <p:sp>
          <p:nvSpPr>
            <p:cNvPr id="109" name="Google Shape;10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9"/>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9"/>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20"/>
          <p:cNvGrpSpPr/>
          <p:nvPr/>
        </p:nvGrpSpPr>
        <p:grpSpPr>
          <a:xfrm>
            <a:off x="4406400" y="0"/>
            <a:ext cx="4737600" cy="5143500"/>
            <a:chOff x="4406400" y="0"/>
            <a:chExt cx="4737600" cy="5143500"/>
          </a:xfrm>
        </p:grpSpPr>
        <p:sp>
          <p:nvSpPr>
            <p:cNvPr id="116" name="Google Shape;116;p2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20"/>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 name="Google Shape;13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21"/>
          <p:cNvGrpSpPr/>
          <p:nvPr/>
        </p:nvGrpSpPr>
        <p:grpSpPr>
          <a:xfrm>
            <a:off x="0" y="381001"/>
            <a:ext cx="1037850" cy="1016287"/>
            <a:chOff x="0" y="381001"/>
            <a:chExt cx="1037850" cy="1016287"/>
          </a:xfrm>
        </p:grpSpPr>
        <p:sp>
          <p:nvSpPr>
            <p:cNvPr id="138" name="Google Shape;13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21"/>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1" name="Google Shape;141;p21"/>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42" name="Google Shape;142;p21"/>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2"/>
          <p:cNvGrpSpPr/>
          <p:nvPr/>
        </p:nvGrpSpPr>
        <p:grpSpPr>
          <a:xfrm>
            <a:off x="0" y="4128572"/>
            <a:ext cx="698925" cy="684657"/>
            <a:chOff x="0" y="3785672"/>
            <a:chExt cx="698925" cy="684657"/>
          </a:xfrm>
        </p:grpSpPr>
        <p:sp>
          <p:nvSpPr>
            <p:cNvPr id="146" name="Google Shape;146;p22"/>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2"/>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3"/>
          <p:cNvGrpSpPr/>
          <p:nvPr/>
        </p:nvGrpSpPr>
        <p:grpSpPr>
          <a:xfrm>
            <a:off x="4406400" y="0"/>
            <a:ext cx="4737600" cy="5143065"/>
            <a:chOff x="4406400" y="0"/>
            <a:chExt cx="4737600" cy="5143065"/>
          </a:xfrm>
        </p:grpSpPr>
        <p:sp>
          <p:nvSpPr>
            <p:cNvPr id="152" name="Google Shape;152;p2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71" name="Google Shape;171;p2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72" name="Google Shape;17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5.png"/><Relationship Id="rId7"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25"/>
          <p:cNvSpPr txBox="1"/>
          <p:nvPr>
            <p:ph type="title"/>
          </p:nvPr>
        </p:nvSpPr>
        <p:spPr>
          <a:xfrm>
            <a:off x="265175" y="278900"/>
            <a:ext cx="3886200" cy="1108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900"/>
              <a:t>Parallelizing the Restricted Boltzmann Machine</a:t>
            </a:r>
            <a:endParaRPr/>
          </a:p>
        </p:txBody>
      </p:sp>
      <p:sp>
        <p:nvSpPr>
          <p:cNvPr id="180" name="Google Shape;180;p25"/>
          <p:cNvSpPr txBox="1"/>
          <p:nvPr/>
        </p:nvSpPr>
        <p:spPr>
          <a:xfrm>
            <a:off x="6151625" y="3879350"/>
            <a:ext cx="2617500" cy="9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highlight>
                  <a:schemeClr val="dk1"/>
                </a:highlight>
                <a:latin typeface="Average"/>
                <a:ea typeface="Average"/>
                <a:cs typeface="Average"/>
                <a:sym typeface="Average"/>
              </a:rPr>
              <a:t>By Kanishka Parankusham (ID : 101148153)</a:t>
            </a:r>
            <a:endParaRPr sz="1600">
              <a:solidFill>
                <a:schemeClr val="lt1"/>
              </a:solidFill>
              <a:highlight>
                <a:schemeClr val="dk1"/>
              </a:highlight>
              <a:latin typeface="Average"/>
              <a:ea typeface="Average"/>
              <a:cs typeface="Average"/>
              <a:sym typeface="Average"/>
            </a:endParaRPr>
          </a:p>
          <a:p>
            <a:pPr indent="0" lvl="0" marL="0" rtl="0" algn="ctr">
              <a:spcBef>
                <a:spcPts val="0"/>
              </a:spcBef>
              <a:spcAft>
                <a:spcPts val="0"/>
              </a:spcAft>
              <a:buNone/>
            </a:pPr>
            <a:r>
              <a:rPr lang="en" sz="1600">
                <a:solidFill>
                  <a:schemeClr val="lt1"/>
                </a:solidFill>
                <a:highlight>
                  <a:schemeClr val="dk1"/>
                </a:highlight>
                <a:latin typeface="Average"/>
                <a:ea typeface="Average"/>
                <a:cs typeface="Average"/>
                <a:sym typeface="Average"/>
              </a:rPr>
              <a:t>CSC 525 : High Performance Computing</a:t>
            </a:r>
            <a:endParaRPr sz="1600">
              <a:solidFill>
                <a:schemeClr val="lt1"/>
              </a:solidFill>
              <a:highlight>
                <a:schemeClr val="dk1"/>
              </a:highlight>
              <a:latin typeface="Average"/>
              <a:ea typeface="Average"/>
              <a:cs typeface="Average"/>
              <a:sym typeface="Average"/>
            </a:endParaRPr>
          </a:p>
          <a:p>
            <a:pPr indent="0" lvl="0" marL="0" rtl="0" algn="ctr">
              <a:spcBef>
                <a:spcPts val="0"/>
              </a:spcBef>
              <a:spcAft>
                <a:spcPts val="0"/>
              </a:spcAft>
              <a:buNone/>
            </a:pPr>
            <a:r>
              <a:t/>
            </a:r>
            <a:endParaRPr sz="1600">
              <a:solidFill>
                <a:schemeClr val="lt1"/>
              </a:solidFill>
              <a:latin typeface="Average"/>
              <a:ea typeface="Average"/>
              <a:cs typeface="Average"/>
              <a:sym typeface="Average"/>
            </a:endParaRPr>
          </a:p>
          <a:p>
            <a:pPr indent="0" lvl="0" marL="0" rtl="0" algn="ctr">
              <a:spcBef>
                <a:spcPts val="0"/>
              </a:spcBef>
              <a:spcAft>
                <a:spcPts val="0"/>
              </a:spcAft>
              <a:buNone/>
            </a:pPr>
            <a:r>
              <a:t/>
            </a:r>
            <a:endParaRPr sz="1600">
              <a:solidFill>
                <a:schemeClr val="lt1"/>
              </a:solidFill>
              <a:latin typeface="Average"/>
              <a:ea typeface="Average"/>
              <a:cs typeface="Average"/>
              <a:sym typeface="Average"/>
            </a:endParaRPr>
          </a:p>
        </p:txBody>
      </p:sp>
      <p:sp>
        <p:nvSpPr>
          <p:cNvPr id="181" name="Google Shape;18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265500" y="394975"/>
            <a:ext cx="4306500" cy="63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800"/>
              <a:t>What is restricted boltzmann machine?</a:t>
            </a:r>
            <a:endParaRPr/>
          </a:p>
        </p:txBody>
      </p:sp>
      <p:sp>
        <p:nvSpPr>
          <p:cNvPr id="187" name="Google Shape;187;p26"/>
          <p:cNvSpPr txBox="1"/>
          <p:nvPr>
            <p:ph idx="2" type="body"/>
          </p:nvPr>
        </p:nvSpPr>
        <p:spPr>
          <a:xfrm>
            <a:off x="4572000" y="0"/>
            <a:ext cx="4503000" cy="5092800"/>
          </a:xfrm>
          <a:prstGeom prst="rect">
            <a:avLst/>
          </a:prstGeom>
        </p:spPr>
        <p:txBody>
          <a:bodyPr anchorCtr="0" anchor="ctr" bIns="91425" lIns="91425" spcFirstLastPara="1" rIns="91425" wrap="square" tIns="91425">
            <a:noAutofit/>
          </a:bodyPr>
          <a:lstStyle/>
          <a:p>
            <a:pPr indent="-317500" lvl="0" marL="457200" rtl="0" algn="l">
              <a:lnSpc>
                <a:spcPct val="80000"/>
              </a:lnSpc>
              <a:spcBef>
                <a:spcPts val="0"/>
              </a:spcBef>
              <a:spcAft>
                <a:spcPts val="0"/>
              </a:spcAft>
              <a:buClr>
                <a:schemeClr val="dk1"/>
              </a:buClr>
              <a:buSzPts val="1400"/>
              <a:buFont typeface="Average"/>
              <a:buChar char="●"/>
            </a:pPr>
            <a:r>
              <a:rPr lang="en" sz="1400">
                <a:latin typeface="Average"/>
                <a:ea typeface="Average"/>
                <a:cs typeface="Average"/>
                <a:sym typeface="Average"/>
              </a:rPr>
              <a:t>Restricted Boltzmann Machines (RBMs) are a type of artificial neural network that can be used for unsupervised learning. They are made up of two layers of neurons: a visible layer and a hidden layer. The visible layer represents the input data, while the hidden layer represents latent features of the input data.</a:t>
            </a:r>
            <a:endParaRPr sz="1400">
              <a:latin typeface="Average"/>
              <a:ea typeface="Average"/>
              <a:cs typeface="Average"/>
              <a:sym typeface="Average"/>
            </a:endParaRPr>
          </a:p>
          <a:p>
            <a:pPr indent="-317500" lvl="0" marL="457200" rtl="0" algn="l">
              <a:lnSpc>
                <a:spcPct val="80000"/>
              </a:lnSpc>
              <a:spcBef>
                <a:spcPts val="0"/>
              </a:spcBef>
              <a:spcAft>
                <a:spcPts val="0"/>
              </a:spcAft>
              <a:buClr>
                <a:schemeClr val="dk1"/>
              </a:buClr>
              <a:buSzPts val="1400"/>
              <a:buFont typeface="Average"/>
              <a:buChar char="●"/>
            </a:pPr>
            <a:r>
              <a:rPr lang="en" sz="1400">
                <a:latin typeface="Average"/>
                <a:ea typeface="Average"/>
                <a:cs typeface="Average"/>
                <a:sym typeface="Average"/>
              </a:rPr>
              <a:t>RBMs work by learning to reconstruct the input data from the latent features. This is done through a process called Gibbs sampling. Gibbs sampling is a stochastic algorithm that iteratively samples from the probability distribution of the latent features.</a:t>
            </a:r>
            <a:endParaRPr sz="1400">
              <a:latin typeface="Average"/>
              <a:ea typeface="Average"/>
              <a:cs typeface="Average"/>
              <a:sym typeface="Average"/>
            </a:endParaRPr>
          </a:p>
          <a:p>
            <a:pPr indent="-317500" lvl="0" marL="457200" rtl="0" algn="l">
              <a:lnSpc>
                <a:spcPct val="80000"/>
              </a:lnSpc>
              <a:spcBef>
                <a:spcPts val="0"/>
              </a:spcBef>
              <a:spcAft>
                <a:spcPts val="0"/>
              </a:spcAft>
              <a:buClr>
                <a:schemeClr val="dk1"/>
              </a:buClr>
              <a:buSzPts val="1400"/>
              <a:buFont typeface="Average"/>
              <a:buChar char="●"/>
            </a:pPr>
            <a:r>
              <a:rPr lang="en" sz="1400">
                <a:latin typeface="Average"/>
                <a:ea typeface="Average"/>
                <a:cs typeface="Average"/>
                <a:sym typeface="Average"/>
              </a:rPr>
              <a:t>RBMs can be used to generate new data, or to extract features from existing data. RBM features are often used as input to other machine learning models, such as classifiers and regressors.</a:t>
            </a:r>
            <a:endParaRPr sz="1400">
              <a:latin typeface="Average"/>
              <a:ea typeface="Average"/>
              <a:cs typeface="Average"/>
              <a:sym typeface="Average"/>
            </a:endParaRPr>
          </a:p>
          <a:p>
            <a:pPr indent="-317500" lvl="0" marL="457200" rtl="0" algn="l">
              <a:lnSpc>
                <a:spcPct val="80000"/>
              </a:lnSpc>
              <a:spcBef>
                <a:spcPts val="0"/>
              </a:spcBef>
              <a:spcAft>
                <a:spcPts val="0"/>
              </a:spcAft>
              <a:buClr>
                <a:schemeClr val="dk1"/>
              </a:buClr>
              <a:buSzPts val="1400"/>
              <a:buFont typeface="Average"/>
              <a:buChar char="●"/>
            </a:pPr>
            <a:r>
              <a:rPr lang="en" sz="1400">
                <a:latin typeface="Average"/>
                <a:ea typeface="Average"/>
                <a:cs typeface="Average"/>
                <a:sym typeface="Average"/>
              </a:rPr>
              <a:t>The weights in an RBM are the connections between the visible and hidden layers. They represent the strength of the relationship between each visible unit and each hidden unit.</a:t>
            </a:r>
            <a:endParaRPr sz="1400">
              <a:latin typeface="Average"/>
              <a:ea typeface="Average"/>
              <a:cs typeface="Average"/>
              <a:sym typeface="Average"/>
            </a:endParaRPr>
          </a:p>
          <a:p>
            <a:pPr indent="-317500" lvl="0" marL="457200" rtl="0" algn="l">
              <a:lnSpc>
                <a:spcPct val="80000"/>
              </a:lnSpc>
              <a:spcBef>
                <a:spcPts val="0"/>
              </a:spcBef>
              <a:spcAft>
                <a:spcPts val="0"/>
              </a:spcAft>
              <a:buClr>
                <a:schemeClr val="dk1"/>
              </a:buClr>
              <a:buSzPts val="1400"/>
              <a:buFont typeface="Average"/>
              <a:buChar char="●"/>
            </a:pPr>
            <a:r>
              <a:rPr lang="en" sz="1400">
                <a:latin typeface="Average"/>
                <a:ea typeface="Average"/>
                <a:cs typeface="Average"/>
                <a:sym typeface="Average"/>
              </a:rPr>
              <a:t>The weights of an RBM are important because they determine the ability of the RBM to learn and represent the underlying structure of the data. By carefully adjusting the weights, it is possible to train RBMs to learn complex relationships in the data.</a:t>
            </a:r>
            <a:endParaRPr sz="2100">
              <a:latin typeface="Average"/>
              <a:ea typeface="Average"/>
              <a:cs typeface="Average"/>
              <a:sym typeface="Average"/>
            </a:endParaRPr>
          </a:p>
        </p:txBody>
      </p:sp>
      <p:pic>
        <p:nvPicPr>
          <p:cNvPr id="188" name="Google Shape;188;p26"/>
          <p:cNvPicPr preferRelativeResize="0"/>
          <p:nvPr/>
        </p:nvPicPr>
        <p:blipFill>
          <a:blip r:embed="rId3">
            <a:alphaModFix/>
          </a:blip>
          <a:stretch>
            <a:fillRect/>
          </a:stretch>
        </p:blipFill>
        <p:spPr>
          <a:xfrm>
            <a:off x="773450" y="1170125"/>
            <a:ext cx="3033537" cy="3231276"/>
          </a:xfrm>
          <a:prstGeom prst="rect">
            <a:avLst/>
          </a:prstGeom>
          <a:noFill/>
          <a:ln>
            <a:noFill/>
          </a:ln>
        </p:spPr>
      </p:pic>
      <p:sp>
        <p:nvSpPr>
          <p:cNvPr id="189" name="Google Shape;18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265500" y="1233175"/>
            <a:ext cx="4045200" cy="1482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What is the purpose of the project?</a:t>
            </a:r>
            <a:endParaRPr/>
          </a:p>
        </p:txBody>
      </p:sp>
      <p:sp>
        <p:nvSpPr>
          <p:cNvPr id="195" name="Google Shape;195;p2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92500" lnSpcReduction="10000"/>
          </a:bodyPr>
          <a:lstStyle/>
          <a:p>
            <a:pPr indent="0" lvl="0" marL="0" rtl="0" algn="l">
              <a:spcBef>
                <a:spcPts val="0"/>
              </a:spcBef>
              <a:spcAft>
                <a:spcPts val="0"/>
              </a:spcAft>
              <a:buNone/>
            </a:pPr>
            <a:r>
              <a:rPr b="1" lang="en"/>
              <a:t>Enhancing RBM Performance Through Parallelization: A Comprehensive Exploration</a:t>
            </a:r>
            <a:endParaRPr b="1"/>
          </a:p>
          <a:p>
            <a:pPr indent="0" lvl="0" marL="0" rtl="0" algn="l">
              <a:spcBef>
                <a:spcPts val="1200"/>
              </a:spcBef>
              <a:spcAft>
                <a:spcPts val="0"/>
              </a:spcAft>
              <a:buNone/>
            </a:pPr>
            <a:r>
              <a:rPr lang="en"/>
              <a:t>This project delves into the realm of parallelization techniques, aiming to optimize the processing time of Restricted Boltzmann Machines (RBMs) and comprehensively explore the functionalities of parallelization libraries and tools within the context of modern computing.</a:t>
            </a:r>
            <a:endParaRPr/>
          </a:p>
          <a:p>
            <a:pPr indent="0" lvl="0" marL="0" rtl="0" algn="l">
              <a:spcBef>
                <a:spcPts val="1200"/>
              </a:spcBef>
              <a:spcAft>
                <a:spcPts val="1200"/>
              </a:spcAft>
              <a:buNone/>
            </a:pPr>
            <a:r>
              <a:t/>
            </a:r>
            <a:endParaRPr/>
          </a:p>
        </p:txBody>
      </p:sp>
      <p:sp>
        <p:nvSpPr>
          <p:cNvPr id="196" name="Google Shape;19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3"/>
        </a:solidFill>
      </p:bgPr>
    </p:bg>
    <p:spTree>
      <p:nvGrpSpPr>
        <p:cNvPr id="200" name="Shape 200"/>
        <p:cNvGrpSpPr/>
        <p:nvPr/>
      </p:nvGrpSpPr>
      <p:grpSpPr>
        <a:xfrm>
          <a:off x="0" y="0"/>
          <a:ext cx="0" cy="0"/>
          <a:chOff x="0" y="0"/>
          <a:chExt cx="0" cy="0"/>
        </a:xfrm>
      </p:grpSpPr>
      <p:sp>
        <p:nvSpPr>
          <p:cNvPr id="201" name="Google Shape;20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RBM </a:t>
            </a:r>
            <a:r>
              <a:rPr lang="en"/>
              <a:t>Algorithm</a:t>
            </a:r>
            <a:endParaRPr/>
          </a:p>
        </p:txBody>
      </p:sp>
      <p:pic>
        <p:nvPicPr>
          <p:cNvPr id="202" name="Google Shape;202;p28"/>
          <p:cNvPicPr preferRelativeResize="0"/>
          <p:nvPr/>
        </p:nvPicPr>
        <p:blipFill>
          <a:blip r:embed="rId3">
            <a:alphaModFix/>
          </a:blip>
          <a:stretch>
            <a:fillRect/>
          </a:stretch>
        </p:blipFill>
        <p:spPr>
          <a:xfrm>
            <a:off x="209550" y="1214451"/>
            <a:ext cx="8622749" cy="2925576"/>
          </a:xfrm>
          <a:prstGeom prst="rect">
            <a:avLst/>
          </a:prstGeom>
          <a:noFill/>
          <a:ln>
            <a:noFill/>
          </a:ln>
          <a:effectLst>
            <a:outerShdw blurRad="57150" rotWithShape="0" algn="bl" dir="5400000" dist="19050">
              <a:srgbClr val="000000">
                <a:alpha val="50000"/>
              </a:srgbClr>
            </a:outerShdw>
          </a:effectLst>
        </p:spPr>
      </p:pic>
      <p:sp>
        <p:nvSpPr>
          <p:cNvPr id="203" name="Google Shape;20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3"/>
        </a:solidFill>
      </p:bgPr>
    </p:bg>
    <p:spTree>
      <p:nvGrpSpPr>
        <p:cNvPr id="207" name="Shape 207"/>
        <p:cNvGrpSpPr/>
        <p:nvPr/>
      </p:nvGrpSpPr>
      <p:grpSpPr>
        <a:xfrm>
          <a:off x="0" y="0"/>
          <a:ext cx="0" cy="0"/>
          <a:chOff x="0" y="0"/>
          <a:chExt cx="0" cy="0"/>
        </a:xfrm>
      </p:grpSpPr>
      <p:sp>
        <p:nvSpPr>
          <p:cNvPr id="208" name="Google Shape;20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the algorithm </a:t>
            </a:r>
            <a:endParaRPr/>
          </a:p>
        </p:txBody>
      </p:sp>
      <p:sp>
        <p:nvSpPr>
          <p:cNvPr id="209" name="Google Shape;209;p29"/>
          <p:cNvSpPr txBox="1"/>
          <p:nvPr>
            <p:ph idx="1" type="body"/>
          </p:nvPr>
        </p:nvSpPr>
        <p:spPr>
          <a:xfrm>
            <a:off x="311700" y="1152475"/>
            <a:ext cx="8520600" cy="374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150">
                <a:solidFill>
                  <a:schemeClr val="dk1"/>
                </a:solidFill>
                <a:highlight>
                  <a:srgbClr val="131313"/>
                </a:highlight>
              </a:rPr>
              <a:t>Restricted Boltzmann machines are trained to maximize the product of probabilities assigned to some training set V (a matrix, each row of which is treated as a visible vector v),</a:t>
            </a:r>
            <a:endParaRPr sz="1150">
              <a:solidFill>
                <a:schemeClr val="dk1"/>
              </a:solidFill>
              <a:highlight>
                <a:srgbClr val="131313"/>
              </a:highlight>
            </a:endParaRPr>
          </a:p>
          <a:p>
            <a:pPr indent="0" lvl="0" marL="0" rtl="0" algn="l">
              <a:spcBef>
                <a:spcPts val="1200"/>
              </a:spcBef>
              <a:spcAft>
                <a:spcPts val="0"/>
              </a:spcAft>
              <a:buNone/>
            </a:pPr>
            <a:r>
              <a:rPr lang="en" sz="1150">
                <a:solidFill>
                  <a:schemeClr val="dk1"/>
                </a:solidFill>
                <a:highlight>
                  <a:srgbClr val="131313"/>
                </a:highlight>
              </a:rPr>
              <a:t>The algorithm most often used to train RBMs, that is, to optimize the weight matrix W, is the contrastive divergence (CD) algorithm due to Hinton, originally developed to train PoE (product of experts) models. The algorithm performs Gibbs sampling and is used inside a gradient descent procedure (similar to the way backpropagation is used inside such a procedure when training feedforward neural nets) to compute weight update.</a:t>
            </a:r>
            <a:endParaRPr sz="1150">
              <a:solidFill>
                <a:schemeClr val="dk1"/>
              </a:solidFill>
              <a:highlight>
                <a:srgbClr val="131313"/>
              </a:highlight>
            </a:endParaRPr>
          </a:p>
          <a:p>
            <a:pPr indent="0" lvl="0" marL="0" rtl="0" algn="l">
              <a:spcBef>
                <a:spcPts val="1200"/>
              </a:spcBef>
              <a:spcAft>
                <a:spcPts val="0"/>
              </a:spcAft>
              <a:buNone/>
            </a:pPr>
            <a:r>
              <a:rPr lang="en" sz="1150">
                <a:solidFill>
                  <a:schemeClr val="dk1"/>
                </a:solidFill>
                <a:highlight>
                  <a:srgbClr val="131313"/>
                </a:highlight>
              </a:rPr>
              <a:t>The basic, single-step contrastive divergence (CD-1) procedure for a single sample can be summarized as follows: </a:t>
            </a:r>
            <a:endParaRPr sz="1150">
              <a:solidFill>
                <a:schemeClr val="dk1"/>
              </a:solidFill>
              <a:highlight>
                <a:srgbClr val="131313"/>
              </a:highlight>
            </a:endParaRPr>
          </a:p>
          <a:p>
            <a:pPr indent="-301625" lvl="0" marL="457200" rtl="0" algn="l">
              <a:spcBef>
                <a:spcPts val="1200"/>
              </a:spcBef>
              <a:spcAft>
                <a:spcPts val="0"/>
              </a:spcAft>
              <a:buClr>
                <a:schemeClr val="dk1"/>
              </a:buClr>
              <a:buSzPts val="1150"/>
              <a:buAutoNum type="arabicPeriod"/>
            </a:pPr>
            <a:r>
              <a:rPr lang="en" sz="1150">
                <a:solidFill>
                  <a:schemeClr val="dk1"/>
                </a:solidFill>
                <a:highlight>
                  <a:srgbClr val="131313"/>
                </a:highlight>
              </a:rPr>
              <a:t>Take a training sample v, compute the probabilities of the hidden units and sample a hidden activation vector h from this probability distribution.</a:t>
            </a:r>
            <a:endParaRPr sz="1150">
              <a:solidFill>
                <a:schemeClr val="dk1"/>
              </a:solidFill>
              <a:highlight>
                <a:srgbClr val="131313"/>
              </a:highlight>
            </a:endParaRPr>
          </a:p>
          <a:p>
            <a:pPr indent="-301625" lvl="0" marL="457200" rtl="0" algn="l">
              <a:spcBef>
                <a:spcPts val="0"/>
              </a:spcBef>
              <a:spcAft>
                <a:spcPts val="0"/>
              </a:spcAft>
              <a:buClr>
                <a:schemeClr val="dk1"/>
              </a:buClr>
              <a:buSzPts val="1150"/>
              <a:buAutoNum type="arabicPeriod"/>
            </a:pPr>
            <a:r>
              <a:rPr lang="en" sz="1150">
                <a:solidFill>
                  <a:schemeClr val="dk1"/>
                </a:solidFill>
                <a:highlight>
                  <a:srgbClr val="131313"/>
                </a:highlight>
              </a:rPr>
              <a:t>Compute the outer product of v and h and call this the positive gradient.</a:t>
            </a:r>
            <a:endParaRPr sz="1150">
              <a:solidFill>
                <a:schemeClr val="dk1"/>
              </a:solidFill>
              <a:highlight>
                <a:srgbClr val="131313"/>
              </a:highlight>
            </a:endParaRPr>
          </a:p>
          <a:p>
            <a:pPr indent="-301625" lvl="0" marL="457200" rtl="0" algn="l">
              <a:spcBef>
                <a:spcPts val="0"/>
              </a:spcBef>
              <a:spcAft>
                <a:spcPts val="0"/>
              </a:spcAft>
              <a:buClr>
                <a:schemeClr val="dk1"/>
              </a:buClr>
              <a:buSzPts val="1150"/>
              <a:buAutoNum type="arabicPeriod"/>
            </a:pPr>
            <a:r>
              <a:rPr lang="en" sz="1150">
                <a:solidFill>
                  <a:schemeClr val="dk1"/>
                </a:solidFill>
                <a:highlight>
                  <a:srgbClr val="131313"/>
                </a:highlight>
              </a:rPr>
              <a:t>From h, sample a reconstruction v' of the visible units, then resample the hidden activations h' from this. (Gibbs sampling step)</a:t>
            </a:r>
            <a:endParaRPr sz="1150">
              <a:solidFill>
                <a:schemeClr val="dk1"/>
              </a:solidFill>
              <a:highlight>
                <a:srgbClr val="131313"/>
              </a:highlight>
            </a:endParaRPr>
          </a:p>
          <a:p>
            <a:pPr indent="-301625" lvl="0" marL="457200" rtl="0" algn="l">
              <a:spcBef>
                <a:spcPts val="0"/>
              </a:spcBef>
              <a:spcAft>
                <a:spcPts val="0"/>
              </a:spcAft>
              <a:buClr>
                <a:schemeClr val="dk1"/>
              </a:buClr>
              <a:buSzPts val="1150"/>
              <a:buAutoNum type="arabicPeriod"/>
            </a:pPr>
            <a:r>
              <a:rPr lang="en" sz="1150">
                <a:solidFill>
                  <a:schemeClr val="dk1"/>
                </a:solidFill>
                <a:highlight>
                  <a:srgbClr val="131313"/>
                </a:highlight>
              </a:rPr>
              <a:t>Compute the outer product of v' and h' and call this the negative gradient.</a:t>
            </a:r>
            <a:endParaRPr sz="1150">
              <a:solidFill>
                <a:schemeClr val="dk1"/>
              </a:solidFill>
              <a:highlight>
                <a:srgbClr val="131313"/>
              </a:highlight>
            </a:endParaRPr>
          </a:p>
          <a:p>
            <a:pPr indent="-301625" lvl="0" marL="457200" rtl="0" algn="l">
              <a:spcBef>
                <a:spcPts val="0"/>
              </a:spcBef>
              <a:spcAft>
                <a:spcPts val="0"/>
              </a:spcAft>
              <a:buClr>
                <a:schemeClr val="dk1"/>
              </a:buClr>
              <a:buSzPts val="1150"/>
              <a:buAutoNum type="arabicPeriod"/>
            </a:pPr>
            <a:r>
              <a:rPr lang="en" sz="1150">
                <a:solidFill>
                  <a:schemeClr val="dk1"/>
                </a:solidFill>
                <a:highlight>
                  <a:srgbClr val="131313"/>
                </a:highlight>
              </a:rPr>
              <a:t>Let the update to the weight matrix W be the positive gradient minus the negative gradient,</a:t>
            </a:r>
            <a:r>
              <a:rPr lang="en" sz="1150">
                <a:solidFill>
                  <a:schemeClr val="dk1"/>
                </a:solidFill>
                <a:highlight>
                  <a:srgbClr val="131313"/>
                </a:highlight>
              </a:rPr>
              <a:t>  so the t</a:t>
            </a:r>
            <a:r>
              <a:rPr lang="en" sz="1150">
                <a:solidFill>
                  <a:schemeClr val="dk1"/>
                </a:solidFill>
                <a:highlight>
                  <a:srgbClr val="131313"/>
                </a:highlight>
              </a:rPr>
              <a:t>imes some learning rat</a:t>
            </a:r>
            <a:r>
              <a:rPr lang="en" sz="1150">
                <a:solidFill>
                  <a:schemeClr val="dk1"/>
                </a:solidFill>
                <a:highlight>
                  <a:srgbClr val="131313"/>
                </a:highlight>
              </a:rPr>
              <a:t>e is: </a:t>
            </a:r>
            <a:endParaRPr sz="1150">
              <a:solidFill>
                <a:schemeClr val="dk1"/>
              </a:solidFill>
              <a:highlight>
                <a:srgbClr val="131313"/>
              </a:highlight>
            </a:endParaRPr>
          </a:p>
          <a:p>
            <a:pPr indent="-301625" lvl="0" marL="457200" rtl="0" algn="l">
              <a:spcBef>
                <a:spcPts val="0"/>
              </a:spcBef>
              <a:spcAft>
                <a:spcPts val="0"/>
              </a:spcAft>
              <a:buClr>
                <a:schemeClr val="dk1"/>
              </a:buClr>
              <a:buSzPts val="1150"/>
              <a:buAutoNum type="arabicPeriod"/>
            </a:pPr>
            <a:r>
              <a:rPr lang="en" sz="1150">
                <a:solidFill>
                  <a:schemeClr val="dk1"/>
                </a:solidFill>
                <a:highlight>
                  <a:srgbClr val="131313"/>
                </a:highlight>
              </a:rPr>
              <a:t>Update the biases a and b analogously: </a:t>
            </a:r>
            <a:endParaRPr sz="1250">
              <a:solidFill>
                <a:schemeClr val="dk1"/>
              </a:solidFill>
              <a:highlight>
                <a:srgbClr val="131313"/>
              </a:highlight>
            </a:endParaRPr>
          </a:p>
        </p:txBody>
      </p:sp>
      <p:pic>
        <p:nvPicPr>
          <p:cNvPr id="210" name="Google Shape;210;p29"/>
          <p:cNvPicPr preferRelativeResize="0"/>
          <p:nvPr/>
        </p:nvPicPr>
        <p:blipFill>
          <a:blip r:embed="rId3">
            <a:alphaModFix/>
          </a:blip>
          <a:stretch>
            <a:fillRect/>
          </a:stretch>
        </p:blipFill>
        <p:spPr>
          <a:xfrm>
            <a:off x="3547100" y="596482"/>
            <a:ext cx="1528061" cy="421250"/>
          </a:xfrm>
          <a:prstGeom prst="rect">
            <a:avLst/>
          </a:prstGeom>
          <a:noFill/>
          <a:ln>
            <a:noFill/>
          </a:ln>
        </p:spPr>
      </p:pic>
      <p:pic>
        <p:nvPicPr>
          <p:cNvPr id="211" name="Google Shape;211;p29"/>
          <p:cNvPicPr preferRelativeResize="0"/>
          <p:nvPr/>
        </p:nvPicPr>
        <p:blipFill>
          <a:blip r:embed="rId4">
            <a:alphaModFix/>
          </a:blip>
          <a:stretch>
            <a:fillRect/>
          </a:stretch>
        </p:blipFill>
        <p:spPr>
          <a:xfrm>
            <a:off x="1351825" y="4268175"/>
            <a:ext cx="1184050" cy="201175"/>
          </a:xfrm>
          <a:prstGeom prst="rect">
            <a:avLst/>
          </a:prstGeom>
          <a:noFill/>
          <a:ln>
            <a:noFill/>
          </a:ln>
        </p:spPr>
      </p:pic>
      <p:pic>
        <p:nvPicPr>
          <p:cNvPr id="212" name="Google Shape;212;p29"/>
          <p:cNvPicPr preferRelativeResize="0"/>
          <p:nvPr/>
        </p:nvPicPr>
        <p:blipFill>
          <a:blip r:embed="rId5">
            <a:alphaModFix/>
          </a:blip>
          <a:stretch>
            <a:fillRect/>
          </a:stretch>
        </p:blipFill>
        <p:spPr>
          <a:xfrm>
            <a:off x="3547100" y="4543675"/>
            <a:ext cx="2510329" cy="201175"/>
          </a:xfrm>
          <a:prstGeom prst="rect">
            <a:avLst/>
          </a:prstGeom>
          <a:noFill/>
          <a:ln>
            <a:noFill/>
          </a:ln>
        </p:spPr>
      </p:pic>
      <p:sp>
        <p:nvSpPr>
          <p:cNvPr id="213" name="Google Shape;21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cxnSp>
        <p:nvCxnSpPr>
          <p:cNvPr id="218" name="Google Shape;218;p30"/>
          <p:cNvCxnSpPr/>
          <p:nvPr/>
        </p:nvCxnSpPr>
        <p:spPr>
          <a:xfrm>
            <a:off x="4067669" y="2273004"/>
            <a:ext cx="4650900" cy="0"/>
          </a:xfrm>
          <a:prstGeom prst="straightConnector1">
            <a:avLst/>
          </a:prstGeom>
          <a:noFill/>
          <a:ln cap="flat" cmpd="sng" w="38100">
            <a:solidFill>
              <a:srgbClr val="666666"/>
            </a:solidFill>
            <a:prstDash val="solid"/>
            <a:round/>
            <a:headEnd len="med" w="med" type="none"/>
            <a:tailEnd len="med" w="med" type="none"/>
          </a:ln>
        </p:spPr>
      </p:cxnSp>
      <p:cxnSp>
        <p:nvCxnSpPr>
          <p:cNvPr id="219" name="Google Shape;219;p30"/>
          <p:cNvCxnSpPr/>
          <p:nvPr/>
        </p:nvCxnSpPr>
        <p:spPr>
          <a:xfrm>
            <a:off x="662650" y="2273004"/>
            <a:ext cx="3218400" cy="0"/>
          </a:xfrm>
          <a:prstGeom prst="straightConnector1">
            <a:avLst/>
          </a:prstGeom>
          <a:noFill/>
          <a:ln cap="flat" cmpd="sng" w="38100">
            <a:solidFill>
              <a:srgbClr val="B7B7B7"/>
            </a:solidFill>
            <a:prstDash val="solid"/>
            <a:round/>
            <a:headEnd len="med" w="med" type="none"/>
            <a:tailEnd len="med" w="med" type="none"/>
          </a:ln>
        </p:spPr>
      </p:cxnSp>
      <p:sp>
        <p:nvSpPr>
          <p:cNvPr id="220" name="Google Shape;22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Our </a:t>
            </a:r>
            <a:r>
              <a:rPr lang="en" sz="3000"/>
              <a:t>Approach</a:t>
            </a:r>
            <a:endParaRPr sz="3000"/>
          </a:p>
        </p:txBody>
      </p:sp>
      <p:grpSp>
        <p:nvGrpSpPr>
          <p:cNvPr id="221" name="Google Shape;221;p30"/>
          <p:cNvGrpSpPr/>
          <p:nvPr/>
        </p:nvGrpSpPr>
        <p:grpSpPr>
          <a:xfrm>
            <a:off x="5293201" y="1688080"/>
            <a:ext cx="1040700" cy="1039104"/>
            <a:chOff x="5293201" y="2678680"/>
            <a:chExt cx="1040700" cy="1039104"/>
          </a:xfrm>
        </p:grpSpPr>
        <p:sp>
          <p:nvSpPr>
            <p:cNvPr id="222" name="Google Shape;222;p30"/>
            <p:cNvSpPr txBox="1"/>
            <p:nvPr/>
          </p:nvSpPr>
          <p:spPr>
            <a:xfrm>
              <a:off x="5297801" y="2856485"/>
              <a:ext cx="1029000" cy="861300"/>
            </a:xfrm>
            <a:prstGeom prst="rect">
              <a:avLst/>
            </a:prstGeom>
            <a:solidFill>
              <a:srgbClr val="666666"/>
            </a:solidFill>
            <a:ln cap="flat" cmpd="sng" w="9525">
              <a:solidFill>
                <a:srgbClr val="66666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Lato"/>
                  <a:ea typeface="Lato"/>
                  <a:cs typeface="Lato"/>
                  <a:sym typeface="Lato"/>
                </a:rPr>
                <a:t>Apply </a:t>
              </a:r>
              <a:r>
                <a:rPr lang="en" sz="900">
                  <a:solidFill>
                    <a:schemeClr val="dk1"/>
                  </a:solidFill>
                  <a:latin typeface="Lato"/>
                  <a:ea typeface="Lato"/>
                  <a:cs typeface="Lato"/>
                  <a:sym typeface="Lato"/>
                </a:rPr>
                <a:t>parallelization</a:t>
              </a:r>
              <a:r>
                <a:rPr lang="en" sz="900">
                  <a:solidFill>
                    <a:schemeClr val="dk1"/>
                  </a:solidFill>
                  <a:latin typeface="Lato"/>
                  <a:ea typeface="Lato"/>
                  <a:cs typeface="Lato"/>
                  <a:sym typeface="Lato"/>
                </a:rPr>
                <a:t> techniques</a:t>
              </a:r>
              <a:endParaRPr sz="900">
                <a:solidFill>
                  <a:schemeClr val="dk1"/>
                </a:solidFill>
                <a:latin typeface="Lato"/>
                <a:ea typeface="Lato"/>
                <a:cs typeface="Lato"/>
                <a:sym typeface="Lato"/>
              </a:endParaRPr>
            </a:p>
          </p:txBody>
        </p:sp>
        <p:sp>
          <p:nvSpPr>
            <p:cNvPr id="223" name="Google Shape;223;p30"/>
            <p:cNvSpPr txBox="1"/>
            <p:nvPr/>
          </p:nvSpPr>
          <p:spPr>
            <a:xfrm>
              <a:off x="5293201" y="2678680"/>
              <a:ext cx="10407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5</a:t>
              </a:r>
              <a:endParaRPr sz="700">
                <a:solidFill>
                  <a:srgbClr val="FFFFFF"/>
                </a:solidFill>
                <a:latin typeface="Raleway"/>
                <a:ea typeface="Raleway"/>
                <a:cs typeface="Raleway"/>
                <a:sym typeface="Raleway"/>
              </a:endParaRPr>
            </a:p>
          </p:txBody>
        </p:sp>
      </p:grpSp>
      <p:grpSp>
        <p:nvGrpSpPr>
          <p:cNvPr id="224" name="Google Shape;224;p30"/>
          <p:cNvGrpSpPr/>
          <p:nvPr/>
        </p:nvGrpSpPr>
        <p:grpSpPr>
          <a:xfrm>
            <a:off x="6415277" y="1688080"/>
            <a:ext cx="1029017" cy="1039006"/>
            <a:chOff x="6415277" y="2678680"/>
            <a:chExt cx="1029017" cy="1039006"/>
          </a:xfrm>
        </p:grpSpPr>
        <p:sp>
          <p:nvSpPr>
            <p:cNvPr id="225" name="Google Shape;225;p30"/>
            <p:cNvSpPr txBox="1"/>
            <p:nvPr/>
          </p:nvSpPr>
          <p:spPr>
            <a:xfrm>
              <a:off x="6415277" y="2856387"/>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Evaluating the model</a:t>
              </a:r>
              <a:endParaRPr sz="900">
                <a:solidFill>
                  <a:srgbClr val="FFFFFF"/>
                </a:solidFill>
                <a:latin typeface="Lato"/>
                <a:ea typeface="Lato"/>
                <a:cs typeface="Lato"/>
                <a:sym typeface="Lato"/>
              </a:endParaRPr>
            </a:p>
          </p:txBody>
        </p:sp>
        <p:sp>
          <p:nvSpPr>
            <p:cNvPr id="226" name="Google Shape;226;p30"/>
            <p:cNvSpPr txBox="1"/>
            <p:nvPr/>
          </p:nvSpPr>
          <p:spPr>
            <a:xfrm>
              <a:off x="6415294"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6</a:t>
              </a:r>
              <a:endParaRPr sz="700">
                <a:solidFill>
                  <a:srgbClr val="FFFFFF"/>
                </a:solidFill>
                <a:latin typeface="Raleway"/>
                <a:ea typeface="Raleway"/>
                <a:cs typeface="Raleway"/>
                <a:sym typeface="Raleway"/>
              </a:endParaRPr>
            </a:p>
          </p:txBody>
        </p:sp>
      </p:grpSp>
      <p:grpSp>
        <p:nvGrpSpPr>
          <p:cNvPr id="227" name="Google Shape;227;p30"/>
          <p:cNvGrpSpPr/>
          <p:nvPr/>
        </p:nvGrpSpPr>
        <p:grpSpPr>
          <a:xfrm>
            <a:off x="7532731" y="1688080"/>
            <a:ext cx="1029011" cy="1039104"/>
            <a:chOff x="7532731" y="2678680"/>
            <a:chExt cx="1029011" cy="1039104"/>
          </a:xfrm>
        </p:grpSpPr>
        <p:sp>
          <p:nvSpPr>
            <p:cNvPr id="228" name="Google Shape;228;p30"/>
            <p:cNvSpPr txBox="1"/>
            <p:nvPr/>
          </p:nvSpPr>
          <p:spPr>
            <a:xfrm>
              <a:off x="7532731" y="2856484"/>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Review </a:t>
              </a:r>
              <a:endParaRPr sz="900">
                <a:solidFill>
                  <a:srgbClr val="FFFFFF"/>
                </a:solidFill>
                <a:latin typeface="Lato"/>
                <a:ea typeface="Lato"/>
                <a:cs typeface="Lato"/>
                <a:sym typeface="Lato"/>
              </a:endParaRPr>
            </a:p>
          </p:txBody>
        </p:sp>
        <p:sp>
          <p:nvSpPr>
            <p:cNvPr id="229" name="Google Shape;229;p30"/>
            <p:cNvSpPr txBox="1"/>
            <p:nvPr/>
          </p:nvSpPr>
          <p:spPr>
            <a:xfrm>
              <a:off x="7532742"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7</a:t>
              </a:r>
              <a:endParaRPr sz="700">
                <a:solidFill>
                  <a:srgbClr val="FFFFFF"/>
                </a:solidFill>
                <a:latin typeface="Raleway"/>
                <a:ea typeface="Raleway"/>
                <a:cs typeface="Raleway"/>
                <a:sym typeface="Raleway"/>
              </a:endParaRPr>
            </a:p>
          </p:txBody>
        </p:sp>
      </p:grpSp>
      <p:grpSp>
        <p:nvGrpSpPr>
          <p:cNvPr id="230" name="Google Shape;230;p30"/>
          <p:cNvGrpSpPr/>
          <p:nvPr/>
        </p:nvGrpSpPr>
        <p:grpSpPr>
          <a:xfrm>
            <a:off x="4180373" y="1688080"/>
            <a:ext cx="1029024" cy="1039007"/>
            <a:chOff x="4180373" y="2678680"/>
            <a:chExt cx="1029024" cy="1039007"/>
          </a:xfrm>
        </p:grpSpPr>
        <p:sp>
          <p:nvSpPr>
            <p:cNvPr id="231" name="Google Shape;231;p30"/>
            <p:cNvSpPr txBox="1"/>
            <p:nvPr/>
          </p:nvSpPr>
          <p:spPr>
            <a:xfrm>
              <a:off x="4180373" y="2856387"/>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Test the model</a:t>
              </a:r>
              <a:endParaRPr sz="900">
                <a:solidFill>
                  <a:srgbClr val="FFFFFF"/>
                </a:solidFill>
                <a:latin typeface="Lato"/>
                <a:ea typeface="Lato"/>
                <a:cs typeface="Lato"/>
                <a:sym typeface="Lato"/>
              </a:endParaRPr>
            </a:p>
          </p:txBody>
        </p:sp>
        <p:sp>
          <p:nvSpPr>
            <p:cNvPr id="232" name="Google Shape;232;p30"/>
            <p:cNvSpPr txBox="1"/>
            <p:nvPr/>
          </p:nvSpPr>
          <p:spPr>
            <a:xfrm>
              <a:off x="4180397"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4</a:t>
              </a:r>
              <a:endParaRPr sz="700">
                <a:solidFill>
                  <a:srgbClr val="FFFFFF"/>
                </a:solidFill>
                <a:latin typeface="Raleway"/>
                <a:ea typeface="Raleway"/>
                <a:cs typeface="Raleway"/>
                <a:sym typeface="Raleway"/>
              </a:endParaRPr>
            </a:p>
          </p:txBody>
        </p:sp>
      </p:grpSp>
      <p:grpSp>
        <p:nvGrpSpPr>
          <p:cNvPr id="233" name="Google Shape;233;p30"/>
          <p:cNvGrpSpPr/>
          <p:nvPr/>
        </p:nvGrpSpPr>
        <p:grpSpPr>
          <a:xfrm>
            <a:off x="3062921" y="1688080"/>
            <a:ext cx="1029028" cy="1039008"/>
            <a:chOff x="3062921" y="2678680"/>
            <a:chExt cx="1029028" cy="1039008"/>
          </a:xfrm>
        </p:grpSpPr>
        <p:sp>
          <p:nvSpPr>
            <p:cNvPr id="234" name="Google Shape;234;p30"/>
            <p:cNvSpPr txBox="1"/>
            <p:nvPr/>
          </p:nvSpPr>
          <p:spPr>
            <a:xfrm>
              <a:off x="3062921" y="2856388"/>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Create a model</a:t>
              </a:r>
              <a:endParaRPr sz="900">
                <a:solidFill>
                  <a:srgbClr val="FFFFFF"/>
                </a:solidFill>
                <a:latin typeface="Lato"/>
                <a:ea typeface="Lato"/>
                <a:cs typeface="Lato"/>
                <a:sym typeface="Lato"/>
              </a:endParaRPr>
            </a:p>
          </p:txBody>
        </p:sp>
        <p:sp>
          <p:nvSpPr>
            <p:cNvPr id="235" name="Google Shape;235;p30"/>
            <p:cNvSpPr txBox="1"/>
            <p:nvPr/>
          </p:nvSpPr>
          <p:spPr>
            <a:xfrm>
              <a:off x="3062949"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3</a:t>
              </a:r>
              <a:endParaRPr sz="700">
                <a:solidFill>
                  <a:srgbClr val="FFFFFF"/>
                </a:solidFill>
                <a:latin typeface="Raleway"/>
                <a:ea typeface="Raleway"/>
                <a:cs typeface="Raleway"/>
                <a:sym typeface="Raleway"/>
              </a:endParaRPr>
            </a:p>
          </p:txBody>
        </p:sp>
      </p:grpSp>
      <p:grpSp>
        <p:nvGrpSpPr>
          <p:cNvPr id="236" name="Google Shape;236;p30"/>
          <p:cNvGrpSpPr/>
          <p:nvPr/>
        </p:nvGrpSpPr>
        <p:grpSpPr>
          <a:xfrm>
            <a:off x="1945500" y="1688080"/>
            <a:ext cx="1029000" cy="1038995"/>
            <a:chOff x="1945500" y="2678680"/>
            <a:chExt cx="1029000" cy="1038995"/>
          </a:xfrm>
        </p:grpSpPr>
        <p:sp>
          <p:nvSpPr>
            <p:cNvPr id="237" name="Google Shape;237;p30"/>
            <p:cNvSpPr txBox="1"/>
            <p:nvPr/>
          </p:nvSpPr>
          <p:spPr>
            <a:xfrm>
              <a:off x="1945500" y="2856375"/>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Choosing suitable platform and environment</a:t>
              </a:r>
              <a:endParaRPr sz="900">
                <a:solidFill>
                  <a:srgbClr val="FFFFFF"/>
                </a:solidFill>
                <a:latin typeface="Lato"/>
                <a:ea typeface="Lato"/>
                <a:cs typeface="Lato"/>
                <a:sym typeface="Lato"/>
              </a:endParaRPr>
            </a:p>
          </p:txBody>
        </p:sp>
        <p:sp>
          <p:nvSpPr>
            <p:cNvPr id="238" name="Google Shape;238;p30"/>
            <p:cNvSpPr txBox="1"/>
            <p:nvPr/>
          </p:nvSpPr>
          <p:spPr>
            <a:xfrm>
              <a:off x="1945500"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2</a:t>
              </a:r>
              <a:endParaRPr sz="700">
                <a:solidFill>
                  <a:srgbClr val="FFFFFF"/>
                </a:solidFill>
                <a:latin typeface="Raleway"/>
                <a:ea typeface="Raleway"/>
                <a:cs typeface="Raleway"/>
                <a:sym typeface="Raleway"/>
              </a:endParaRPr>
            </a:p>
          </p:txBody>
        </p:sp>
      </p:grpSp>
      <p:grpSp>
        <p:nvGrpSpPr>
          <p:cNvPr id="239" name="Google Shape;239;p30"/>
          <p:cNvGrpSpPr/>
          <p:nvPr/>
        </p:nvGrpSpPr>
        <p:grpSpPr>
          <a:xfrm>
            <a:off x="828040" y="1688080"/>
            <a:ext cx="1029012" cy="1039104"/>
            <a:chOff x="828040" y="2678680"/>
            <a:chExt cx="1029012" cy="1039104"/>
          </a:xfrm>
        </p:grpSpPr>
        <p:sp>
          <p:nvSpPr>
            <p:cNvPr id="240" name="Google Shape;240;p30"/>
            <p:cNvSpPr txBox="1"/>
            <p:nvPr/>
          </p:nvSpPr>
          <p:spPr>
            <a:xfrm>
              <a:off x="828040" y="2856484"/>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Gather training data </a:t>
              </a:r>
              <a:endParaRPr sz="900">
                <a:solidFill>
                  <a:srgbClr val="FFFFFF"/>
                </a:solidFill>
                <a:latin typeface="Lato"/>
                <a:ea typeface="Lato"/>
                <a:cs typeface="Lato"/>
                <a:sym typeface="Lato"/>
              </a:endParaRPr>
            </a:p>
          </p:txBody>
        </p:sp>
        <p:sp>
          <p:nvSpPr>
            <p:cNvPr id="241" name="Google Shape;241;p30"/>
            <p:cNvSpPr txBox="1"/>
            <p:nvPr/>
          </p:nvSpPr>
          <p:spPr>
            <a:xfrm>
              <a:off x="828052"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Stage 1</a:t>
              </a:r>
              <a:endParaRPr sz="700">
                <a:solidFill>
                  <a:srgbClr val="FFFFFF"/>
                </a:solidFill>
                <a:latin typeface="Raleway"/>
                <a:ea typeface="Raleway"/>
                <a:cs typeface="Raleway"/>
                <a:sym typeface="Raleway"/>
              </a:endParaRPr>
            </a:p>
          </p:txBody>
        </p:sp>
      </p:grpSp>
      <p:grpSp>
        <p:nvGrpSpPr>
          <p:cNvPr id="242" name="Google Shape;242;p30"/>
          <p:cNvGrpSpPr/>
          <p:nvPr/>
        </p:nvGrpSpPr>
        <p:grpSpPr>
          <a:xfrm>
            <a:off x="3062590" y="1051383"/>
            <a:ext cx="1368114" cy="1312853"/>
            <a:chOff x="3588475" y="2010171"/>
            <a:chExt cx="1318664" cy="1265400"/>
          </a:xfrm>
        </p:grpSpPr>
        <p:sp>
          <p:nvSpPr>
            <p:cNvPr id="243" name="Google Shape;243;p30"/>
            <p:cNvSpPr/>
            <p:nvPr/>
          </p:nvSpPr>
          <p:spPr>
            <a:xfrm>
              <a:off x="3588475" y="2010171"/>
              <a:ext cx="1265400" cy="1265400"/>
            </a:xfrm>
            <a:prstGeom prst="blockArc">
              <a:avLst>
                <a:gd fmla="val 10800000" name="adj1"/>
                <a:gd fmla="val 21145742" name="adj2"/>
                <a:gd fmla="val 4708" name="adj3"/>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0"/>
            <p:cNvSpPr/>
            <p:nvPr/>
          </p:nvSpPr>
          <p:spPr>
            <a:xfrm rot="10264840">
              <a:off x="4745726" y="2501027"/>
              <a:ext cx="150925" cy="143128"/>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30"/>
          <p:cNvGrpSpPr/>
          <p:nvPr/>
        </p:nvGrpSpPr>
        <p:grpSpPr>
          <a:xfrm rot="10800000">
            <a:off x="3797485" y="2045044"/>
            <a:ext cx="2503747" cy="1312853"/>
            <a:chOff x="3588475" y="2010171"/>
            <a:chExt cx="1318664" cy="1265400"/>
          </a:xfrm>
        </p:grpSpPr>
        <p:sp>
          <p:nvSpPr>
            <p:cNvPr id="246" name="Google Shape;246;p30"/>
            <p:cNvSpPr/>
            <p:nvPr/>
          </p:nvSpPr>
          <p:spPr>
            <a:xfrm>
              <a:off x="3588475" y="2010171"/>
              <a:ext cx="1265400" cy="1265400"/>
            </a:xfrm>
            <a:prstGeom prst="blockArc">
              <a:avLst>
                <a:gd fmla="val 10800000" name="adj1"/>
                <a:gd fmla="val 21145742" name="adj2"/>
                <a:gd fmla="val 4708" name="adj3"/>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p:nvPr/>
          </p:nvSpPr>
          <p:spPr>
            <a:xfrm rot="10264840">
              <a:off x="4745726" y="2501027"/>
              <a:ext cx="150925" cy="143128"/>
            </a:xfrm>
            <a:prstGeom prst="triangle">
              <a:avLst>
                <a:gd fmla="val 50000"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30"/>
          <p:cNvSpPr txBox="1"/>
          <p:nvPr/>
        </p:nvSpPr>
        <p:spPr>
          <a:xfrm>
            <a:off x="3465575" y="1219950"/>
            <a:ext cx="579300" cy="2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ato"/>
                <a:ea typeface="Lato"/>
                <a:cs typeface="Lato"/>
                <a:sym typeface="Lato"/>
              </a:rPr>
              <a:t>Test</a:t>
            </a:r>
            <a:endParaRPr>
              <a:solidFill>
                <a:schemeClr val="dk1"/>
              </a:solidFill>
              <a:latin typeface="Lato"/>
              <a:ea typeface="Lato"/>
              <a:cs typeface="Lato"/>
              <a:sym typeface="Lato"/>
            </a:endParaRPr>
          </a:p>
        </p:txBody>
      </p:sp>
      <p:sp>
        <p:nvSpPr>
          <p:cNvPr id="249" name="Google Shape;249;p30"/>
          <p:cNvSpPr txBox="1"/>
          <p:nvPr/>
        </p:nvSpPr>
        <p:spPr>
          <a:xfrm>
            <a:off x="4684050" y="2850650"/>
            <a:ext cx="917100" cy="2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DADAD"/>
                </a:solidFill>
              </a:rPr>
              <a:t>Optimize</a:t>
            </a:r>
            <a:endParaRPr>
              <a:solidFill>
                <a:srgbClr val="ADADAD"/>
              </a:solidFill>
            </a:endParaRPr>
          </a:p>
        </p:txBody>
      </p:sp>
      <p:sp>
        <p:nvSpPr>
          <p:cNvPr id="250" name="Google Shape;250;p30"/>
          <p:cNvSpPr/>
          <p:nvPr/>
        </p:nvSpPr>
        <p:spPr>
          <a:xfrm>
            <a:off x="3480225" y="2648750"/>
            <a:ext cx="194400" cy="663000"/>
          </a:xfrm>
          <a:prstGeom prst="downArrow">
            <a:avLst>
              <a:gd fmla="val 50000" name="adj1"/>
              <a:gd fmla="val 50000" name="adj2"/>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1" name="Google Shape;251;p30"/>
          <p:cNvPicPr preferRelativeResize="0"/>
          <p:nvPr/>
        </p:nvPicPr>
        <p:blipFill>
          <a:blip r:embed="rId3">
            <a:alphaModFix/>
          </a:blip>
          <a:stretch>
            <a:fillRect/>
          </a:stretch>
        </p:blipFill>
        <p:spPr>
          <a:xfrm>
            <a:off x="2345150" y="3397521"/>
            <a:ext cx="3477500" cy="1312854"/>
          </a:xfrm>
          <a:prstGeom prst="rect">
            <a:avLst/>
          </a:prstGeom>
          <a:noFill/>
          <a:ln>
            <a:noFill/>
          </a:ln>
        </p:spPr>
      </p:pic>
      <p:grpSp>
        <p:nvGrpSpPr>
          <p:cNvPr id="252" name="Google Shape;252;p30"/>
          <p:cNvGrpSpPr/>
          <p:nvPr/>
        </p:nvGrpSpPr>
        <p:grpSpPr>
          <a:xfrm>
            <a:off x="828040" y="3452080"/>
            <a:ext cx="1029012" cy="1039104"/>
            <a:chOff x="828040" y="2678680"/>
            <a:chExt cx="1029012" cy="1039104"/>
          </a:xfrm>
        </p:grpSpPr>
        <p:sp>
          <p:nvSpPr>
            <p:cNvPr id="253" name="Google Shape;253;p30"/>
            <p:cNvSpPr txBox="1"/>
            <p:nvPr/>
          </p:nvSpPr>
          <p:spPr>
            <a:xfrm>
              <a:off x="828040" y="2856484"/>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Initialise training data modify code for parallelization</a:t>
              </a:r>
              <a:endParaRPr sz="900">
                <a:solidFill>
                  <a:srgbClr val="FFFFFF"/>
                </a:solidFill>
                <a:latin typeface="Lato"/>
                <a:ea typeface="Lato"/>
                <a:cs typeface="Lato"/>
                <a:sym typeface="Lato"/>
              </a:endParaRPr>
            </a:p>
          </p:txBody>
        </p:sp>
        <p:sp>
          <p:nvSpPr>
            <p:cNvPr id="254" name="Google Shape;254;p30"/>
            <p:cNvSpPr txBox="1"/>
            <p:nvPr/>
          </p:nvSpPr>
          <p:spPr>
            <a:xfrm>
              <a:off x="828052"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Training</a:t>
              </a:r>
              <a:endParaRPr sz="700">
                <a:solidFill>
                  <a:srgbClr val="FFFFFF"/>
                </a:solidFill>
                <a:latin typeface="Raleway"/>
                <a:ea typeface="Raleway"/>
                <a:cs typeface="Raleway"/>
                <a:sym typeface="Raleway"/>
              </a:endParaRPr>
            </a:p>
          </p:txBody>
        </p:sp>
      </p:grpSp>
      <p:grpSp>
        <p:nvGrpSpPr>
          <p:cNvPr id="255" name="Google Shape;255;p30"/>
          <p:cNvGrpSpPr/>
          <p:nvPr/>
        </p:nvGrpSpPr>
        <p:grpSpPr>
          <a:xfrm>
            <a:off x="6386940" y="3458205"/>
            <a:ext cx="1029012" cy="1039104"/>
            <a:chOff x="828040" y="2678680"/>
            <a:chExt cx="1029012" cy="1039104"/>
          </a:xfrm>
        </p:grpSpPr>
        <p:sp>
          <p:nvSpPr>
            <p:cNvPr id="256" name="Google Shape;256;p30"/>
            <p:cNvSpPr txBox="1"/>
            <p:nvPr/>
          </p:nvSpPr>
          <p:spPr>
            <a:xfrm>
              <a:off x="828040" y="2856484"/>
              <a:ext cx="1029000" cy="8613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latin typeface="Lato"/>
                  <a:ea typeface="Lato"/>
                  <a:cs typeface="Lato"/>
                  <a:sym typeface="Lato"/>
                </a:rPr>
                <a:t>Scaling various </a:t>
              </a:r>
              <a:r>
                <a:rPr lang="en" sz="900">
                  <a:solidFill>
                    <a:srgbClr val="FFFFFF"/>
                  </a:solidFill>
                  <a:latin typeface="Lato"/>
                  <a:ea typeface="Lato"/>
                  <a:cs typeface="Lato"/>
                  <a:sym typeface="Lato"/>
                </a:rPr>
                <a:t>values</a:t>
              </a:r>
              <a:r>
                <a:rPr lang="en" sz="900">
                  <a:solidFill>
                    <a:srgbClr val="FFFFFF"/>
                  </a:solidFill>
                  <a:latin typeface="Lato"/>
                  <a:ea typeface="Lato"/>
                  <a:cs typeface="Lato"/>
                  <a:sym typeface="Lato"/>
                </a:rPr>
                <a:t> and weights</a:t>
              </a:r>
              <a:endParaRPr sz="900">
                <a:solidFill>
                  <a:srgbClr val="FFFFFF"/>
                </a:solidFill>
                <a:latin typeface="Lato"/>
                <a:ea typeface="Lato"/>
                <a:cs typeface="Lato"/>
                <a:sym typeface="Lato"/>
              </a:endParaRPr>
            </a:p>
          </p:txBody>
        </p:sp>
        <p:sp>
          <p:nvSpPr>
            <p:cNvPr id="257" name="Google Shape;257;p30"/>
            <p:cNvSpPr txBox="1"/>
            <p:nvPr/>
          </p:nvSpPr>
          <p:spPr>
            <a:xfrm>
              <a:off x="828052" y="2678680"/>
              <a:ext cx="1029000" cy="1641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Raleway"/>
                  <a:ea typeface="Raleway"/>
                  <a:cs typeface="Raleway"/>
                  <a:sym typeface="Raleway"/>
                </a:rPr>
                <a:t>Adding Values</a:t>
              </a:r>
              <a:endParaRPr sz="700">
                <a:solidFill>
                  <a:srgbClr val="FFFFFF"/>
                </a:solidFill>
                <a:latin typeface="Raleway"/>
                <a:ea typeface="Raleway"/>
                <a:cs typeface="Raleway"/>
                <a:sym typeface="Raleway"/>
              </a:endParaRPr>
            </a:p>
          </p:txBody>
        </p:sp>
      </p:grpSp>
      <p:sp>
        <p:nvSpPr>
          <p:cNvPr id="258" name="Google Shape;258;p30"/>
          <p:cNvSpPr/>
          <p:nvPr/>
        </p:nvSpPr>
        <p:spPr>
          <a:xfrm>
            <a:off x="2345150" y="4710375"/>
            <a:ext cx="3558695" cy="36047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Lato"/>
              </a:rPr>
              <a:t>Tensorflow Training</a:t>
            </a:r>
          </a:p>
        </p:txBody>
      </p:sp>
      <p:sp>
        <p:nvSpPr>
          <p:cNvPr id="259" name="Google Shape;259;p30"/>
          <p:cNvSpPr txBox="1"/>
          <p:nvPr/>
        </p:nvSpPr>
        <p:spPr>
          <a:xfrm>
            <a:off x="4684050" y="4491175"/>
            <a:ext cx="1219800" cy="1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1"/>
                </a:solidFill>
              </a:rPr>
              <a:t>Parallelization</a:t>
            </a:r>
            <a:r>
              <a:rPr lang="en" sz="500">
                <a:solidFill>
                  <a:schemeClr val="dk1"/>
                </a:solidFill>
              </a:rPr>
              <a:t> of Gibbs samples</a:t>
            </a:r>
            <a:endParaRPr sz="500">
              <a:solidFill>
                <a:schemeClr val="dk1"/>
              </a:solidFill>
            </a:endParaRPr>
          </a:p>
        </p:txBody>
      </p:sp>
      <p:sp>
        <p:nvSpPr>
          <p:cNvPr id="260" name="Google Shape;260;p30"/>
          <p:cNvSpPr/>
          <p:nvPr/>
        </p:nvSpPr>
        <p:spPr>
          <a:xfrm>
            <a:off x="1857050" y="3924350"/>
            <a:ext cx="488100" cy="259200"/>
          </a:xfrm>
          <a:prstGeom prst="rightArrow">
            <a:avLst>
              <a:gd fmla="val 50000" name="adj1"/>
              <a:gd fmla="val 50000" name="adj2"/>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30"/>
          <p:cNvSpPr/>
          <p:nvPr/>
        </p:nvSpPr>
        <p:spPr>
          <a:xfrm>
            <a:off x="5822650" y="3924350"/>
            <a:ext cx="579300" cy="259200"/>
          </a:xfrm>
          <a:prstGeom prst="rightArrow">
            <a:avLst>
              <a:gd fmla="val 50000" name="adj1"/>
              <a:gd fmla="val 50000" name="adj2"/>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used for the software</a:t>
            </a:r>
            <a:endParaRPr/>
          </a:p>
        </p:txBody>
      </p:sp>
      <p:pic>
        <p:nvPicPr>
          <p:cNvPr id="268" name="Google Shape;268;p31"/>
          <p:cNvPicPr preferRelativeResize="0"/>
          <p:nvPr/>
        </p:nvPicPr>
        <p:blipFill>
          <a:blip r:embed="rId3">
            <a:alphaModFix/>
          </a:blip>
          <a:stretch>
            <a:fillRect/>
          </a:stretch>
        </p:blipFill>
        <p:spPr>
          <a:xfrm>
            <a:off x="3721100" y="1017722"/>
            <a:ext cx="1394325" cy="1616255"/>
          </a:xfrm>
          <a:prstGeom prst="rect">
            <a:avLst/>
          </a:prstGeom>
          <a:noFill/>
          <a:ln>
            <a:noFill/>
          </a:ln>
        </p:spPr>
      </p:pic>
      <p:pic>
        <p:nvPicPr>
          <p:cNvPr id="269" name="Google Shape;269;p31"/>
          <p:cNvPicPr preferRelativeResize="0"/>
          <p:nvPr/>
        </p:nvPicPr>
        <p:blipFill>
          <a:blip r:embed="rId4">
            <a:alphaModFix/>
          </a:blip>
          <a:stretch>
            <a:fillRect/>
          </a:stretch>
        </p:blipFill>
        <p:spPr>
          <a:xfrm>
            <a:off x="6283825" y="1471918"/>
            <a:ext cx="2329325" cy="1162057"/>
          </a:xfrm>
          <a:prstGeom prst="rect">
            <a:avLst/>
          </a:prstGeom>
          <a:noFill/>
          <a:ln>
            <a:noFill/>
          </a:ln>
        </p:spPr>
      </p:pic>
      <p:pic>
        <p:nvPicPr>
          <p:cNvPr id="270" name="Google Shape;270;p31"/>
          <p:cNvPicPr preferRelativeResize="0"/>
          <p:nvPr/>
        </p:nvPicPr>
        <p:blipFill>
          <a:blip r:embed="rId5">
            <a:alphaModFix/>
          </a:blip>
          <a:stretch>
            <a:fillRect/>
          </a:stretch>
        </p:blipFill>
        <p:spPr>
          <a:xfrm>
            <a:off x="223375" y="1235300"/>
            <a:ext cx="2329326" cy="1398673"/>
          </a:xfrm>
          <a:prstGeom prst="rect">
            <a:avLst/>
          </a:prstGeom>
          <a:noFill/>
          <a:ln>
            <a:noFill/>
          </a:ln>
        </p:spPr>
      </p:pic>
      <p:pic>
        <p:nvPicPr>
          <p:cNvPr id="271" name="Google Shape;271;p31"/>
          <p:cNvPicPr preferRelativeResize="0"/>
          <p:nvPr/>
        </p:nvPicPr>
        <p:blipFill>
          <a:blip r:embed="rId6">
            <a:alphaModFix/>
          </a:blip>
          <a:stretch>
            <a:fillRect/>
          </a:stretch>
        </p:blipFill>
        <p:spPr>
          <a:xfrm>
            <a:off x="1368925" y="2900675"/>
            <a:ext cx="2525385" cy="1616250"/>
          </a:xfrm>
          <a:prstGeom prst="rect">
            <a:avLst/>
          </a:prstGeom>
          <a:noFill/>
          <a:ln>
            <a:noFill/>
          </a:ln>
        </p:spPr>
      </p:pic>
      <p:pic>
        <p:nvPicPr>
          <p:cNvPr id="272" name="Google Shape;272;p31"/>
          <p:cNvPicPr preferRelativeResize="0"/>
          <p:nvPr/>
        </p:nvPicPr>
        <p:blipFill>
          <a:blip r:embed="rId7">
            <a:alphaModFix/>
          </a:blip>
          <a:stretch>
            <a:fillRect/>
          </a:stretch>
        </p:blipFill>
        <p:spPr>
          <a:xfrm>
            <a:off x="4571994" y="2964175"/>
            <a:ext cx="2870979" cy="1616250"/>
          </a:xfrm>
          <a:prstGeom prst="rect">
            <a:avLst/>
          </a:prstGeom>
          <a:noFill/>
          <a:ln>
            <a:noFill/>
          </a:ln>
        </p:spPr>
      </p:pic>
      <p:sp>
        <p:nvSpPr>
          <p:cNvPr id="273" name="Google Shape;27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Device specification and Libraries used</a:t>
            </a:r>
            <a:endParaRPr/>
          </a:p>
        </p:txBody>
      </p:sp>
      <p:sp>
        <p:nvSpPr>
          <p:cNvPr id="279" name="Google Shape;279;p32"/>
          <p:cNvSpPr txBox="1"/>
          <p:nvPr>
            <p:ph idx="1" type="body"/>
          </p:nvPr>
        </p:nvSpPr>
        <p:spPr>
          <a:xfrm>
            <a:off x="311700" y="1152475"/>
            <a:ext cx="8520600" cy="38691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CPU: AMD Ryzen 5 4600H (6 core)</a:t>
            </a:r>
            <a:endParaRPr/>
          </a:p>
          <a:p>
            <a:pPr indent="0" lvl="0" marL="0" rtl="0" algn="l">
              <a:spcBef>
                <a:spcPts val="1200"/>
              </a:spcBef>
              <a:spcAft>
                <a:spcPts val="0"/>
              </a:spcAft>
              <a:buNone/>
            </a:pPr>
            <a:r>
              <a:rPr lang="en"/>
              <a:t>GPU: Nvidia GeForce GTX 1650 Ti (Cuda cores: 1024, </a:t>
            </a:r>
            <a:r>
              <a:rPr lang="en"/>
              <a:t>4GB GDDR5</a:t>
            </a:r>
            <a:r>
              <a:rPr lang="en"/>
              <a:t>)</a:t>
            </a:r>
            <a:endParaRPr/>
          </a:p>
          <a:p>
            <a:pPr indent="0" lvl="0" marL="0" rtl="0" algn="l">
              <a:spcBef>
                <a:spcPts val="1200"/>
              </a:spcBef>
              <a:spcAft>
                <a:spcPts val="0"/>
              </a:spcAft>
              <a:buNone/>
            </a:pPr>
            <a:r>
              <a:rPr lang="en">
                <a:solidFill>
                  <a:schemeClr val="dk1"/>
                </a:solidFill>
              </a:rPr>
              <a:t>Libraries used:</a:t>
            </a:r>
            <a:endParaRPr>
              <a:solidFill>
                <a:schemeClr val="dk1"/>
              </a:solidFill>
            </a:endParaRPr>
          </a:p>
          <a:p>
            <a:pPr indent="0" lvl="0" marL="0" rtl="0" algn="l">
              <a:spcBef>
                <a:spcPts val="1200"/>
              </a:spcBef>
              <a:spcAft>
                <a:spcPts val="0"/>
              </a:spcAft>
              <a:buNone/>
            </a:pPr>
            <a:r>
              <a:rPr lang="en"/>
              <a:t>Python: 3.9.18</a:t>
            </a:r>
            <a:endParaRPr/>
          </a:p>
          <a:p>
            <a:pPr indent="0" lvl="0" marL="0" rtl="0" algn="l">
              <a:spcBef>
                <a:spcPts val="1200"/>
              </a:spcBef>
              <a:spcAft>
                <a:spcPts val="0"/>
              </a:spcAft>
              <a:buNone/>
            </a:pPr>
            <a:r>
              <a:rPr lang="en"/>
              <a:t>Tensorflow: 2.10.1</a:t>
            </a:r>
            <a:endParaRPr/>
          </a:p>
          <a:p>
            <a:pPr indent="0" lvl="0" marL="0" rtl="0" algn="l">
              <a:spcBef>
                <a:spcPts val="1200"/>
              </a:spcBef>
              <a:spcAft>
                <a:spcPts val="0"/>
              </a:spcAft>
              <a:buNone/>
            </a:pPr>
            <a:r>
              <a:rPr lang="en"/>
              <a:t>Numpy: 1.25.0</a:t>
            </a:r>
            <a:endParaRPr/>
          </a:p>
          <a:p>
            <a:pPr indent="0" lvl="0" marL="0" rtl="0" algn="l">
              <a:spcBef>
                <a:spcPts val="1200"/>
              </a:spcBef>
              <a:spcAft>
                <a:spcPts val="0"/>
              </a:spcAft>
              <a:buNone/>
            </a:pPr>
            <a:r>
              <a:rPr lang="en"/>
              <a:t>Panda: 2.1.1</a:t>
            </a:r>
            <a:endParaRPr/>
          </a:p>
          <a:p>
            <a:pPr indent="0" lvl="0" marL="0" rtl="0" algn="l">
              <a:spcBef>
                <a:spcPts val="1200"/>
              </a:spcBef>
              <a:spcAft>
                <a:spcPts val="0"/>
              </a:spcAft>
              <a:buNone/>
            </a:pPr>
            <a:r>
              <a:rPr lang="en"/>
              <a:t>Matplot: 3.8</a:t>
            </a:r>
            <a:endParaRPr/>
          </a:p>
          <a:p>
            <a:pPr indent="0" lvl="0" marL="0" rtl="0" algn="l">
              <a:spcBef>
                <a:spcPts val="1200"/>
              </a:spcBef>
              <a:spcAft>
                <a:spcPts val="0"/>
              </a:spcAft>
              <a:buNone/>
            </a:pPr>
            <a:r>
              <a:rPr lang="en"/>
              <a:t>Os.environ</a:t>
            </a:r>
            <a:endParaRPr/>
          </a:p>
          <a:p>
            <a:pPr indent="0" lvl="0" marL="0" rtl="0" algn="l">
              <a:spcBef>
                <a:spcPts val="1200"/>
              </a:spcBef>
              <a:spcAft>
                <a:spcPts val="0"/>
              </a:spcAft>
              <a:buNone/>
            </a:pPr>
            <a:r>
              <a:rPr lang="en"/>
              <a:t>Threading</a:t>
            </a:r>
            <a:endParaRPr/>
          </a:p>
          <a:p>
            <a:pPr indent="0" lvl="0" marL="0" rtl="0" algn="l">
              <a:spcBef>
                <a:spcPts val="1200"/>
              </a:spcBef>
              <a:spcAft>
                <a:spcPts val="1200"/>
              </a:spcAft>
              <a:buNone/>
            </a:pPr>
            <a:r>
              <a:rPr lang="en"/>
              <a:t>Cuda version: 12.3</a:t>
            </a:r>
            <a:endParaRPr/>
          </a:p>
        </p:txBody>
      </p:sp>
      <p:sp>
        <p:nvSpPr>
          <p:cNvPr id="280" name="Google Shape;28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used</a:t>
            </a:r>
            <a:endParaRPr/>
          </a:p>
        </p:txBody>
      </p:sp>
      <p:sp>
        <p:nvSpPr>
          <p:cNvPr id="286" name="Google Shape;28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Movielens:</a:t>
            </a:r>
            <a:endParaRPr>
              <a:solidFill>
                <a:schemeClr val="dk1"/>
              </a:solidFill>
            </a:endParaRPr>
          </a:p>
          <a:p>
            <a:pPr indent="0" lvl="0" marL="0" rtl="0" algn="l">
              <a:spcBef>
                <a:spcPts val="1200"/>
              </a:spcBef>
              <a:spcAft>
                <a:spcPts val="0"/>
              </a:spcAft>
              <a:buNone/>
            </a:pPr>
            <a:r>
              <a:rPr lang="en"/>
              <a:t>These files contain 1,000,209 anonymous ratings of approximately 3,900 movies </a:t>
            </a:r>
            <a:endParaRPr/>
          </a:p>
          <a:p>
            <a:pPr indent="0" lvl="0" marL="0" rtl="0" algn="l">
              <a:spcBef>
                <a:spcPts val="1200"/>
              </a:spcBef>
              <a:spcAft>
                <a:spcPts val="0"/>
              </a:spcAft>
              <a:buNone/>
            </a:pPr>
            <a:r>
              <a:rPr lang="en"/>
              <a:t>made by 6,040 MovieLens users who joined MovieLens in 2000.</a:t>
            </a:r>
            <a:endParaRPr/>
          </a:p>
          <a:p>
            <a:pPr indent="0" lvl="0" marL="0" rtl="0" algn="l">
              <a:spcBef>
                <a:spcPts val="1200"/>
              </a:spcBef>
              <a:spcAft>
                <a:spcPts val="1200"/>
              </a:spcAft>
              <a:buNone/>
            </a:pPr>
            <a:r>
              <a:t/>
            </a:r>
            <a:endParaRPr/>
          </a:p>
        </p:txBody>
      </p:sp>
      <p:sp>
        <p:nvSpPr>
          <p:cNvPr id="287" name="Google Shape;28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293" name="Google Shape;29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AutoNum type="arabicPeriod"/>
            </a:pPr>
            <a:r>
              <a:rPr lang="en"/>
              <a:t>Importing libraries</a:t>
            </a:r>
            <a:endParaRPr/>
          </a:p>
          <a:p>
            <a:pPr indent="-334327" lvl="0" marL="457200" rtl="0" algn="l">
              <a:spcBef>
                <a:spcPts val="0"/>
              </a:spcBef>
              <a:spcAft>
                <a:spcPts val="0"/>
              </a:spcAft>
              <a:buSzPct val="100000"/>
              <a:buAutoNum type="arabicPeriod"/>
            </a:pPr>
            <a:r>
              <a:rPr lang="en"/>
              <a:t>Load test data and modify them for </a:t>
            </a:r>
            <a:r>
              <a:rPr lang="en"/>
              <a:t>computation</a:t>
            </a:r>
            <a:r>
              <a:rPr lang="en"/>
              <a:t> </a:t>
            </a:r>
            <a:endParaRPr/>
          </a:p>
          <a:p>
            <a:pPr indent="-334327" lvl="0" marL="457200" rtl="0" algn="l">
              <a:spcBef>
                <a:spcPts val="0"/>
              </a:spcBef>
              <a:spcAft>
                <a:spcPts val="0"/>
              </a:spcAft>
              <a:buSzPct val="100000"/>
              <a:buAutoNum type="arabicPeriod"/>
            </a:pPr>
            <a:r>
              <a:rPr lang="en"/>
              <a:t>Testing parallel and serial execution while programming itself</a:t>
            </a:r>
            <a:endParaRPr/>
          </a:p>
          <a:p>
            <a:pPr indent="-334327" lvl="0" marL="457200" rtl="0" algn="l">
              <a:spcBef>
                <a:spcPts val="0"/>
              </a:spcBef>
              <a:spcAft>
                <a:spcPts val="0"/>
              </a:spcAft>
              <a:buSzPct val="100000"/>
              <a:buAutoNum type="arabicPeriod"/>
            </a:pPr>
            <a:r>
              <a:rPr lang="en"/>
              <a:t>Merge user ratings and movies then </a:t>
            </a:r>
            <a:r>
              <a:rPr lang="en"/>
              <a:t>initialize</a:t>
            </a:r>
            <a:r>
              <a:rPr lang="en"/>
              <a:t> the test group( create training list)</a:t>
            </a:r>
            <a:endParaRPr/>
          </a:p>
          <a:p>
            <a:pPr indent="-334327" lvl="0" marL="457200" rtl="0" algn="l">
              <a:spcBef>
                <a:spcPts val="0"/>
              </a:spcBef>
              <a:spcAft>
                <a:spcPts val="0"/>
              </a:spcAft>
              <a:buSzPct val="100000"/>
              <a:buAutoNum type="arabicPeriod"/>
            </a:pPr>
            <a:r>
              <a:rPr lang="en"/>
              <a:t>Initializing </a:t>
            </a:r>
            <a:r>
              <a:rPr lang="en"/>
              <a:t>hidden units(can be anything because it changes once the program runs)</a:t>
            </a:r>
            <a:endParaRPr/>
          </a:p>
          <a:p>
            <a:pPr indent="-334327" lvl="0" marL="457200" rtl="0" algn="l">
              <a:spcBef>
                <a:spcPts val="0"/>
              </a:spcBef>
              <a:spcAft>
                <a:spcPts val="0"/>
              </a:spcAft>
              <a:buSzPct val="100000"/>
              <a:buAutoNum type="arabicPeriod"/>
            </a:pPr>
            <a:r>
              <a:rPr lang="en"/>
              <a:t>Normalizing the scores using sigmoid and relu(tensorflow function). Updating positive and negative gradients(These are biases).</a:t>
            </a:r>
            <a:endParaRPr/>
          </a:p>
          <a:p>
            <a:pPr indent="-334327" lvl="0" marL="457200" rtl="0" algn="l">
              <a:spcBef>
                <a:spcPts val="0"/>
              </a:spcBef>
              <a:spcAft>
                <a:spcPts val="0"/>
              </a:spcAft>
              <a:buSzPct val="100000"/>
              <a:buAutoNum type="arabicPeriod"/>
            </a:pPr>
            <a:r>
              <a:rPr lang="en"/>
              <a:t> And updating out matrix</a:t>
            </a:r>
            <a:endParaRPr/>
          </a:p>
          <a:p>
            <a:pPr indent="-334327" lvl="0" marL="457200" rtl="0" algn="l">
              <a:spcBef>
                <a:spcPts val="0"/>
              </a:spcBef>
              <a:spcAft>
                <a:spcPts val="0"/>
              </a:spcAft>
              <a:buSzPct val="100000"/>
              <a:buAutoNum type="arabicPeriod"/>
            </a:pPr>
            <a:r>
              <a:rPr lang="en"/>
              <a:t>Initialize</a:t>
            </a:r>
            <a:r>
              <a:rPr lang="en"/>
              <a:t> the biases and weights.</a:t>
            </a:r>
            <a:endParaRPr/>
          </a:p>
          <a:p>
            <a:pPr indent="-334327" lvl="0" marL="457200" rtl="0" algn="l">
              <a:spcBef>
                <a:spcPts val="0"/>
              </a:spcBef>
              <a:spcAft>
                <a:spcPts val="0"/>
              </a:spcAft>
              <a:buSzPct val="100000"/>
              <a:buAutoNum type="arabicPeriod"/>
            </a:pPr>
            <a:r>
              <a:rPr lang="en"/>
              <a:t>Start training with batch size and number of epochs.(Check with CPU and GPU)</a:t>
            </a:r>
            <a:endParaRPr/>
          </a:p>
          <a:p>
            <a:pPr indent="-334327" lvl="0" marL="457200" rtl="0" algn="l">
              <a:spcBef>
                <a:spcPts val="0"/>
              </a:spcBef>
              <a:spcAft>
                <a:spcPts val="0"/>
              </a:spcAft>
              <a:buSzPct val="100000"/>
              <a:buAutoNum type="arabicPeriod"/>
            </a:pPr>
            <a:r>
              <a:rPr lang="en"/>
              <a:t>After training select a user you want find recommendations for.</a:t>
            </a:r>
            <a:endParaRPr/>
          </a:p>
          <a:p>
            <a:pPr indent="-334327" lvl="0" marL="457200" rtl="0" algn="l">
              <a:spcBef>
                <a:spcPts val="0"/>
              </a:spcBef>
              <a:spcAft>
                <a:spcPts val="0"/>
              </a:spcAft>
              <a:buSzPct val="100000"/>
              <a:buAutoNum type="arabicPeriod"/>
            </a:pPr>
            <a:r>
              <a:rPr lang="en"/>
              <a:t>Feed the users data.</a:t>
            </a:r>
            <a:endParaRPr/>
          </a:p>
          <a:p>
            <a:pPr indent="-334327" lvl="0" marL="457200" rtl="0" algn="l">
              <a:spcBef>
                <a:spcPts val="0"/>
              </a:spcBef>
              <a:spcAft>
                <a:spcPts val="0"/>
              </a:spcAft>
              <a:buSzPct val="100000"/>
              <a:buAutoNum type="arabicPeriod"/>
            </a:pPr>
            <a:r>
              <a:rPr lang="en"/>
              <a:t>Print out a list of n movies for display with score sorted. Merge and Display.</a:t>
            </a:r>
            <a:endParaRPr/>
          </a:p>
        </p:txBody>
      </p:sp>
      <p:sp>
        <p:nvSpPr>
          <p:cNvPr id="294" name="Google Shape;29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Parallelization of the program</a:t>
            </a:r>
            <a:endParaRPr/>
          </a:p>
        </p:txBody>
      </p:sp>
      <p:sp>
        <p:nvSpPr>
          <p:cNvPr id="300" name="Google Shape;30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were not many areas we can use or demonstrate </a:t>
            </a:r>
            <a:r>
              <a:rPr lang="en"/>
              <a:t>parallelization in the program.</a:t>
            </a:r>
            <a:endParaRPr/>
          </a:p>
          <a:p>
            <a:pPr indent="0" lvl="0" marL="0" rtl="0" algn="l">
              <a:spcBef>
                <a:spcPts val="1200"/>
              </a:spcBef>
              <a:spcAft>
                <a:spcPts val="0"/>
              </a:spcAft>
              <a:buNone/>
            </a:pPr>
            <a:r>
              <a:rPr lang="en"/>
              <a:t>There were only few areas where we can modify the code and parallelize the code.</a:t>
            </a:r>
            <a:endParaRPr/>
          </a:p>
          <a:p>
            <a:pPr indent="0" lvl="0" marL="0" rtl="0" algn="l">
              <a:spcBef>
                <a:spcPts val="1200"/>
              </a:spcBef>
              <a:spcAft>
                <a:spcPts val="0"/>
              </a:spcAft>
              <a:buNone/>
            </a:pPr>
            <a:r>
              <a:rPr lang="en"/>
              <a:t>The system was successfully run the code in a cuda based GPU which itself is a form of parallelization. The mutex and training functions where used and performed well with the GPU.</a:t>
            </a:r>
            <a:endParaRPr/>
          </a:p>
          <a:p>
            <a:pPr indent="0" lvl="0" marL="0" rtl="0" algn="l">
              <a:spcBef>
                <a:spcPts val="1200"/>
              </a:spcBef>
              <a:spcAft>
                <a:spcPts val="1200"/>
              </a:spcAft>
              <a:buNone/>
            </a:pPr>
            <a:r>
              <a:rPr lang="en"/>
              <a:t>Lets see the overheads statistics in later slides…</a:t>
            </a:r>
            <a:endParaRPr/>
          </a:p>
        </p:txBody>
      </p:sp>
      <p:sp>
        <p:nvSpPr>
          <p:cNvPr id="301" name="Google Shape;30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6"/>
          <p:cNvSpPr txBox="1"/>
          <p:nvPr>
            <p:ph type="title"/>
          </p:nvPr>
        </p:nvSpPr>
        <p:spPr>
          <a:xfrm>
            <a:off x="265500" y="166375"/>
            <a:ext cx="4045200" cy="1482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How does a Cuda GPU work?</a:t>
            </a:r>
            <a:endParaRPr/>
          </a:p>
        </p:txBody>
      </p:sp>
      <p:sp>
        <p:nvSpPr>
          <p:cNvPr id="307" name="Google Shape;307;p36"/>
          <p:cNvSpPr txBox="1"/>
          <p:nvPr>
            <p:ph idx="2" type="body"/>
          </p:nvPr>
        </p:nvSpPr>
        <p:spPr>
          <a:xfrm>
            <a:off x="4939500" y="652775"/>
            <a:ext cx="3837000" cy="39447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en"/>
              <a:t>The GPU supported parallel programs that were more parallel than those of the CPU. But unlike multithreaded CPUs, which supported computing different functions at the same time, the GPU focused on computing the same function simultaneously on multiple elements of data. </a:t>
            </a:r>
            <a:endParaRPr/>
          </a:p>
          <a:p>
            <a:pPr indent="0" lvl="0" marL="0" rtl="0" algn="l">
              <a:spcBef>
                <a:spcPts val="1200"/>
              </a:spcBef>
              <a:spcAft>
                <a:spcPts val="1200"/>
              </a:spcAft>
              <a:buNone/>
            </a:pPr>
            <a:r>
              <a:rPr lang="en"/>
              <a:t>Almost all the framework for machine learning uses parallelized implementation of all the possible operations. This is achieved by CUDA programming, NVIDIA API to do parallel computations on NVIDIA </a:t>
            </a:r>
            <a:r>
              <a:rPr lang="en"/>
              <a:t>GPUs</a:t>
            </a:r>
            <a:r>
              <a:rPr lang="en"/>
              <a:t>. You don't write it explicitly, it's all done at low level, and you do not even get to know.</a:t>
            </a:r>
            <a:endParaRPr/>
          </a:p>
        </p:txBody>
      </p:sp>
      <p:pic>
        <p:nvPicPr>
          <p:cNvPr id="308" name="Google Shape;308;p36"/>
          <p:cNvPicPr preferRelativeResize="0"/>
          <p:nvPr/>
        </p:nvPicPr>
        <p:blipFill>
          <a:blip r:embed="rId3">
            <a:alphaModFix/>
          </a:blip>
          <a:stretch>
            <a:fillRect/>
          </a:stretch>
        </p:blipFill>
        <p:spPr>
          <a:xfrm>
            <a:off x="216099" y="1728475"/>
            <a:ext cx="4144000" cy="2868924"/>
          </a:xfrm>
          <a:prstGeom prst="rect">
            <a:avLst/>
          </a:prstGeom>
          <a:noFill/>
          <a:ln>
            <a:noFill/>
          </a:ln>
        </p:spPr>
      </p:pic>
      <p:sp>
        <p:nvSpPr>
          <p:cNvPr id="309" name="Google Shape;30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evaluation</a:t>
            </a:r>
            <a:endParaRPr/>
          </a:p>
        </p:txBody>
      </p:sp>
      <p:sp>
        <p:nvSpPr>
          <p:cNvPr id="315" name="Google Shape;31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 case with 1000 users, learning rate set to 1.0, batch size = 100. (Results are in seconds)</a:t>
            </a:r>
            <a:endParaRPr/>
          </a:p>
          <a:p>
            <a:pPr indent="0" lvl="0" marL="0" rtl="0" algn="l">
              <a:spcBef>
                <a:spcPts val="1200"/>
              </a:spcBef>
              <a:spcAft>
                <a:spcPts val="0"/>
              </a:spcAft>
              <a:buNone/>
            </a:pPr>
            <a:r>
              <a:rPr lang="en"/>
              <a:t>Time taken by program with CPU: 28 seconds</a:t>
            </a:r>
            <a:endParaRPr/>
          </a:p>
          <a:p>
            <a:pPr indent="0" lvl="0" marL="0" rtl="0" algn="l">
              <a:spcBef>
                <a:spcPts val="1200"/>
              </a:spcBef>
              <a:spcAft>
                <a:spcPts val="0"/>
              </a:spcAft>
              <a:buNone/>
            </a:pPr>
            <a:r>
              <a:rPr lang="en"/>
              <a:t>Time taken by program with GPU:25 seconds</a:t>
            </a:r>
            <a:endParaRPr/>
          </a:p>
          <a:p>
            <a:pPr indent="0" lvl="0" marL="0" rtl="0" algn="l">
              <a:spcBef>
                <a:spcPts val="1200"/>
              </a:spcBef>
              <a:spcAft>
                <a:spcPts val="0"/>
              </a:spcAft>
              <a:buNone/>
            </a:pPr>
            <a:r>
              <a:rPr lang="en"/>
              <a:t>Speedup: 1.12</a:t>
            </a:r>
            <a:endParaRPr/>
          </a:p>
          <a:p>
            <a:pPr indent="0" lvl="0" marL="0" rtl="0" algn="l">
              <a:spcBef>
                <a:spcPts val="1200"/>
              </a:spcBef>
              <a:spcAft>
                <a:spcPts val="1200"/>
              </a:spcAft>
              <a:buNone/>
            </a:pPr>
            <a:r>
              <a:rPr lang="en"/>
              <a:t>Speedup when using parallelized the code: </a:t>
            </a:r>
            <a:r>
              <a:rPr b="1" lang="en">
                <a:solidFill>
                  <a:schemeClr val="dk1"/>
                </a:solidFill>
              </a:rPr>
              <a:t>0.08</a:t>
            </a:r>
            <a:endParaRPr b="1">
              <a:solidFill>
                <a:schemeClr val="dk1"/>
              </a:solidFill>
            </a:endParaRPr>
          </a:p>
        </p:txBody>
      </p:sp>
      <p:sp>
        <p:nvSpPr>
          <p:cNvPr id="316" name="Google Shape;31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the speed up for parallel code slower?</a:t>
            </a:r>
            <a:endParaRPr/>
          </a:p>
        </p:txBody>
      </p:sp>
      <p:sp>
        <p:nvSpPr>
          <p:cNvPr id="322" name="Google Shape;32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a:t>
            </a:r>
            <a:r>
              <a:rPr lang="en"/>
              <a:t> look at the snippet of code for both the both </a:t>
            </a:r>
            <a:r>
              <a:rPr lang="en"/>
              <a:t>processes for printing the shape of the matrix. First let's look at without parallelization. </a:t>
            </a:r>
            <a:endParaRPr/>
          </a:p>
        </p:txBody>
      </p:sp>
      <p:pic>
        <p:nvPicPr>
          <p:cNvPr id="323" name="Google Shape;323;p38"/>
          <p:cNvPicPr preferRelativeResize="0"/>
          <p:nvPr/>
        </p:nvPicPr>
        <p:blipFill>
          <a:blip r:embed="rId3">
            <a:alphaModFix/>
          </a:blip>
          <a:stretch>
            <a:fillRect/>
          </a:stretch>
        </p:blipFill>
        <p:spPr>
          <a:xfrm>
            <a:off x="2395538" y="2117413"/>
            <a:ext cx="4352925" cy="2028825"/>
          </a:xfrm>
          <a:prstGeom prst="rect">
            <a:avLst/>
          </a:prstGeom>
          <a:noFill/>
          <a:ln>
            <a:noFill/>
          </a:ln>
        </p:spPr>
      </p:pic>
      <p:sp>
        <p:nvSpPr>
          <p:cNvPr id="324" name="Google Shape;32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a:t>
            </a:r>
            <a:r>
              <a:rPr lang="en"/>
              <a:t>let's</a:t>
            </a:r>
            <a:r>
              <a:rPr lang="en"/>
              <a:t> look at parallelized one</a:t>
            </a:r>
            <a:endParaRPr/>
          </a:p>
        </p:txBody>
      </p:sp>
      <p:pic>
        <p:nvPicPr>
          <p:cNvPr id="330" name="Google Shape;330;p39"/>
          <p:cNvPicPr preferRelativeResize="0"/>
          <p:nvPr/>
        </p:nvPicPr>
        <p:blipFill>
          <a:blip r:embed="rId3">
            <a:alphaModFix/>
          </a:blip>
          <a:stretch>
            <a:fillRect/>
          </a:stretch>
        </p:blipFill>
        <p:spPr>
          <a:xfrm>
            <a:off x="2320300" y="1242800"/>
            <a:ext cx="4503400" cy="2960100"/>
          </a:xfrm>
          <a:prstGeom prst="rect">
            <a:avLst/>
          </a:prstGeom>
          <a:noFill/>
          <a:ln>
            <a:noFill/>
          </a:ln>
        </p:spPr>
      </p:pic>
      <p:sp>
        <p:nvSpPr>
          <p:cNvPr id="331" name="Google Shape;331;p39"/>
          <p:cNvSpPr txBox="1"/>
          <p:nvPr/>
        </p:nvSpPr>
        <p:spPr>
          <a:xfrm>
            <a:off x="1485900" y="4397500"/>
            <a:ext cx="6172200" cy="6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rPr>
              <a:t>As we can see it's much longer longer and overcomplicating things. </a:t>
            </a:r>
            <a:r>
              <a:rPr lang="en" sz="1200">
                <a:solidFill>
                  <a:schemeClr val="lt2"/>
                </a:solidFill>
              </a:rPr>
              <a:t>Parallelization</a:t>
            </a:r>
            <a:r>
              <a:rPr lang="en" sz="1200">
                <a:solidFill>
                  <a:schemeClr val="lt2"/>
                </a:solidFill>
              </a:rPr>
              <a:t> can be only used in few cases where there is scope for it. And each time you create you have to join them in code. </a:t>
            </a:r>
            <a:endParaRPr sz="1200">
              <a:solidFill>
                <a:schemeClr val="lt2"/>
              </a:solidFill>
            </a:endParaRPr>
          </a:p>
        </p:txBody>
      </p:sp>
      <p:sp>
        <p:nvSpPr>
          <p:cNvPr id="332" name="Google Shape;33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0"/>
          <p:cNvSpPr txBox="1"/>
          <p:nvPr>
            <p:ph idx="1" type="body"/>
          </p:nvPr>
        </p:nvSpPr>
        <p:spPr>
          <a:xfrm>
            <a:off x="311700" y="4199375"/>
            <a:ext cx="8520600" cy="3696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1200"/>
              </a:spcAft>
              <a:buNone/>
            </a:pPr>
            <a:r>
              <a:rPr lang="en"/>
              <a:t>Crude </a:t>
            </a:r>
            <a:r>
              <a:rPr lang="en"/>
              <a:t>example</a:t>
            </a:r>
            <a:r>
              <a:rPr lang="en"/>
              <a:t> for using 4 threads. To enhance this we can use for loops for starting and ending threads.</a:t>
            </a:r>
            <a:endParaRPr/>
          </a:p>
        </p:txBody>
      </p:sp>
      <p:pic>
        <p:nvPicPr>
          <p:cNvPr id="338" name="Google Shape;338;p40"/>
          <p:cNvPicPr preferRelativeResize="0"/>
          <p:nvPr/>
        </p:nvPicPr>
        <p:blipFill>
          <a:blip r:embed="rId3">
            <a:alphaModFix/>
          </a:blip>
          <a:stretch>
            <a:fillRect/>
          </a:stretch>
        </p:blipFill>
        <p:spPr>
          <a:xfrm>
            <a:off x="1179327" y="655300"/>
            <a:ext cx="6785325" cy="3326900"/>
          </a:xfrm>
          <a:prstGeom prst="rect">
            <a:avLst/>
          </a:prstGeom>
          <a:noFill/>
          <a:ln>
            <a:noFill/>
          </a:ln>
        </p:spPr>
      </p:pic>
      <p:sp>
        <p:nvSpPr>
          <p:cNvPr id="339" name="Google Shape;33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faced</a:t>
            </a:r>
            <a:endParaRPr/>
          </a:p>
        </p:txBody>
      </p:sp>
      <p:sp>
        <p:nvSpPr>
          <p:cNvPr id="345" name="Google Shape;34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Setting up GPU for tensorflow and making it work with the environment took </a:t>
            </a:r>
            <a:r>
              <a:rPr lang="en"/>
              <a:t>quite</a:t>
            </a:r>
            <a:r>
              <a:rPr lang="en"/>
              <a:t> some time. Next time making use of google colab or a linux system would be much better option. </a:t>
            </a:r>
            <a:endParaRPr/>
          </a:p>
          <a:p>
            <a:pPr indent="0" lvl="0" marL="457200" rtl="0" algn="l">
              <a:spcBef>
                <a:spcPts val="1200"/>
              </a:spcBef>
              <a:spcAft>
                <a:spcPts val="0"/>
              </a:spcAft>
              <a:buNone/>
            </a:pPr>
            <a:r>
              <a:rPr lang="en">
                <a:solidFill>
                  <a:schemeClr val="dk1"/>
                </a:solidFill>
              </a:rPr>
              <a:t>I</a:t>
            </a:r>
            <a:r>
              <a:rPr lang="en">
                <a:solidFill>
                  <a:schemeClr val="dk1"/>
                </a:solidFill>
              </a:rPr>
              <a:t>nherent </a:t>
            </a:r>
            <a:r>
              <a:rPr lang="en">
                <a:solidFill>
                  <a:schemeClr val="dk1"/>
                </a:solidFill>
              </a:rPr>
              <a:t>python weakness: </a:t>
            </a:r>
            <a:endParaRPr>
              <a:solidFill>
                <a:schemeClr val="dk1"/>
              </a:solidFill>
            </a:endParaRPr>
          </a:p>
          <a:p>
            <a:pPr indent="-308610" lvl="0" marL="457200" rtl="0" algn="l">
              <a:spcBef>
                <a:spcPts val="1200"/>
              </a:spcBef>
              <a:spcAft>
                <a:spcPts val="0"/>
              </a:spcAft>
              <a:buSzPct val="100000"/>
              <a:buChar char="●"/>
            </a:pPr>
            <a:r>
              <a:rPr lang="en"/>
              <a:t>Multi-Threading and the Global Interpreter Lock (GIL) .The Global Interpreter Lock (GIL) also affects </a:t>
            </a:r>
            <a:r>
              <a:rPr lang="en"/>
              <a:t>multithreading</a:t>
            </a:r>
            <a:r>
              <a:rPr lang="en"/>
              <a:t> in Python. The GIL works by putting a lock on each variable and maintaining a usage counter. This even takes effect on multiprocess library. </a:t>
            </a:r>
            <a:endParaRPr/>
          </a:p>
          <a:p>
            <a:pPr indent="-308610" lvl="0" marL="457200" rtl="0" algn="l">
              <a:spcBef>
                <a:spcPts val="0"/>
              </a:spcBef>
              <a:spcAft>
                <a:spcPts val="0"/>
              </a:spcAft>
              <a:buSzPct val="100000"/>
              <a:buChar char="●"/>
            </a:pPr>
            <a:r>
              <a:rPr lang="en"/>
              <a:t>Limited Threading Support: Python's built-in threading module provides a basic framework for parallel execution, but it may not be sufficient for complex parallelization scenarios. Advanced libraries like multiprocessing or task schedulers like Celery are often required.</a:t>
            </a:r>
            <a:endParaRPr/>
          </a:p>
          <a:p>
            <a:pPr indent="-308610" lvl="0" marL="457200" rtl="0" algn="l">
              <a:spcBef>
                <a:spcPts val="0"/>
              </a:spcBef>
              <a:spcAft>
                <a:spcPts val="0"/>
              </a:spcAft>
              <a:buSzPct val="100000"/>
              <a:buChar char="●"/>
            </a:pPr>
            <a:r>
              <a:rPr lang="en"/>
              <a:t>Overhead of Parallelization: Parallelization introduces overhead in terms of thread creation, synchronization, and communication between threads or processes. This overhead can sometimes outweigh the performance gains, especially for small or I/O-bound tasks.</a:t>
            </a:r>
            <a:endParaRPr/>
          </a:p>
          <a:p>
            <a:pPr indent="-308610" lvl="0" marL="457200" rtl="0" algn="l">
              <a:spcBef>
                <a:spcPts val="0"/>
              </a:spcBef>
              <a:spcAft>
                <a:spcPts val="0"/>
              </a:spcAft>
              <a:buSzPct val="100000"/>
              <a:buChar char="●"/>
            </a:pPr>
            <a:r>
              <a:rPr lang="en"/>
              <a:t>Not much support for its libraries. For example I tried using joblib, Pandaral·lel, pycuda, etc. Importing them was also a </a:t>
            </a:r>
            <a:r>
              <a:rPr lang="en"/>
              <a:t>daunting</a:t>
            </a:r>
            <a:r>
              <a:rPr lang="en"/>
              <a:t> task.Most of libraries in python don’t support even a years back python version. </a:t>
            </a:r>
            <a:endParaRPr/>
          </a:p>
          <a:p>
            <a:pPr indent="-308610" lvl="0" marL="457200" rtl="0" algn="l">
              <a:spcBef>
                <a:spcPts val="0"/>
              </a:spcBef>
              <a:spcAft>
                <a:spcPts val="0"/>
              </a:spcAft>
              <a:buSzPct val="100000"/>
              <a:buChar char="●"/>
            </a:pPr>
            <a:r>
              <a:rPr lang="en"/>
              <a:t>Downgrading means changing </a:t>
            </a:r>
            <a:r>
              <a:rPr lang="en"/>
              <a:t>variables</a:t>
            </a:r>
            <a:r>
              <a:rPr lang="en"/>
              <a:t> of different systems which would take more time intinalize and make them run.</a:t>
            </a:r>
            <a:endParaRPr/>
          </a:p>
        </p:txBody>
      </p:sp>
      <p:sp>
        <p:nvSpPr>
          <p:cNvPr id="346" name="Google Shape;34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for future</a:t>
            </a:r>
            <a:endParaRPr/>
          </a:p>
        </p:txBody>
      </p:sp>
      <p:sp>
        <p:nvSpPr>
          <p:cNvPr id="352" name="Google Shape;35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457200" rtl="0" algn="l">
              <a:spcBef>
                <a:spcPts val="0"/>
              </a:spcBef>
              <a:spcAft>
                <a:spcPts val="0"/>
              </a:spcAft>
              <a:buNone/>
            </a:pPr>
            <a:r>
              <a:rPr lang="en">
                <a:solidFill>
                  <a:schemeClr val="dk1"/>
                </a:solidFill>
              </a:rPr>
              <a:t>Parallelisation</a:t>
            </a:r>
            <a:r>
              <a:rPr lang="en">
                <a:solidFill>
                  <a:schemeClr val="dk1"/>
                </a:solidFill>
              </a:rPr>
              <a:t> is big topic there can be further improvements such as:</a:t>
            </a:r>
            <a:endParaRPr>
              <a:solidFill>
                <a:schemeClr val="dk1"/>
              </a:solidFill>
            </a:endParaRPr>
          </a:p>
          <a:p>
            <a:pPr indent="-334327" lvl="0" marL="457200" rtl="0" algn="l">
              <a:spcBef>
                <a:spcPts val="1200"/>
              </a:spcBef>
              <a:spcAft>
                <a:spcPts val="0"/>
              </a:spcAft>
              <a:buSzPct val="100000"/>
              <a:buChar char="●"/>
            </a:pPr>
            <a:r>
              <a:rPr lang="en"/>
              <a:t>The code can be much more optimized if it was </a:t>
            </a:r>
            <a:r>
              <a:rPr lang="en"/>
              <a:t>parallelized</a:t>
            </a:r>
            <a:r>
              <a:rPr lang="en"/>
              <a:t> from the </a:t>
            </a:r>
            <a:r>
              <a:rPr lang="en"/>
              <a:t>scratch with good knowledge of parallel python libraries and their working. </a:t>
            </a:r>
            <a:endParaRPr/>
          </a:p>
          <a:p>
            <a:pPr indent="-334327" lvl="0" marL="457200" rtl="0" algn="l">
              <a:spcBef>
                <a:spcPts val="0"/>
              </a:spcBef>
              <a:spcAft>
                <a:spcPts val="0"/>
              </a:spcAft>
              <a:buSzPct val="100000"/>
              <a:buChar char="●"/>
            </a:pPr>
            <a:r>
              <a:rPr lang="en"/>
              <a:t>Tensorflow code(GPU) can be much more optimized my making use of its functions.</a:t>
            </a:r>
            <a:endParaRPr/>
          </a:p>
          <a:p>
            <a:pPr indent="-334327" lvl="0" marL="457200" rtl="0" algn="l">
              <a:spcBef>
                <a:spcPts val="0"/>
              </a:spcBef>
              <a:spcAft>
                <a:spcPts val="0"/>
              </a:spcAft>
              <a:buSzPct val="100000"/>
              <a:buChar char="●"/>
            </a:pPr>
            <a:r>
              <a:rPr lang="en"/>
              <a:t>Further improvement can be made with use of MPI. There are many libraries that support python with distributed frameworks. (If access granted from college we can reality test this scenario).(Tensorflow allows distributed functions such as tf.distribute.Strategy which is used to initialize the gpus and allocate data).</a:t>
            </a:r>
            <a:endParaRPr/>
          </a:p>
          <a:p>
            <a:pPr indent="-334327" lvl="0" marL="457200" rtl="0" algn="l">
              <a:spcBef>
                <a:spcPts val="0"/>
              </a:spcBef>
              <a:spcAft>
                <a:spcPts val="0"/>
              </a:spcAft>
              <a:buSzPct val="100000"/>
              <a:buChar char="●"/>
            </a:pPr>
            <a:r>
              <a:rPr lang="en"/>
              <a:t>Making use of google colab would have been much faster in terms of the project. Google even provides virtual GPU’s and TPU’s. (Basically we can run programs on their server)</a:t>
            </a:r>
            <a:endParaRPr/>
          </a:p>
        </p:txBody>
      </p:sp>
      <p:sp>
        <p:nvSpPr>
          <p:cNvPr id="353" name="Google Shape;35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359" name="Google Shape;35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this project, we observed use of </a:t>
            </a:r>
            <a:r>
              <a:rPr lang="en"/>
              <a:t>parallel</a:t>
            </a:r>
            <a:r>
              <a:rPr lang="en"/>
              <a:t> computing in a Deep </a:t>
            </a:r>
            <a:r>
              <a:rPr lang="en"/>
              <a:t>Belief</a:t>
            </a:r>
            <a:r>
              <a:rPr lang="en"/>
              <a:t> model(RBM). Overall the whole </a:t>
            </a:r>
            <a:r>
              <a:rPr lang="en"/>
              <a:t>code</a:t>
            </a:r>
            <a:r>
              <a:rPr lang="en"/>
              <a:t> can be way more optimized but using parallel techniques can have many overheads to consider. Even invoking a single thread activates the whole core or cores which can lead to additional execution time. </a:t>
            </a:r>
            <a:endParaRPr/>
          </a:p>
          <a:p>
            <a:pPr indent="0" lvl="0" marL="0" rtl="0" algn="l">
              <a:spcBef>
                <a:spcPts val="1200"/>
              </a:spcBef>
              <a:spcAft>
                <a:spcPts val="1200"/>
              </a:spcAft>
              <a:buNone/>
            </a:pPr>
            <a:r>
              <a:rPr lang="en"/>
              <a:t>Usage of </a:t>
            </a:r>
            <a:r>
              <a:rPr lang="en"/>
              <a:t>GPU’s for computing these models has been only way to execute such algorithms which require massive computational power. With addition to distributed computing High performance computing can be increased by many fold.</a:t>
            </a:r>
            <a:endParaRPr/>
          </a:p>
        </p:txBody>
      </p:sp>
      <p:sp>
        <p:nvSpPr>
          <p:cNvPr id="360" name="Google Shape;36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Few project </a:t>
            </a:r>
            <a:r>
              <a:rPr lang="en"/>
              <a:t>outputs:</a:t>
            </a:r>
            <a:endParaRPr/>
          </a:p>
        </p:txBody>
      </p:sp>
      <p:pic>
        <p:nvPicPr>
          <p:cNvPr id="366" name="Google Shape;366;p44"/>
          <p:cNvPicPr preferRelativeResize="0"/>
          <p:nvPr/>
        </p:nvPicPr>
        <p:blipFill>
          <a:blip r:embed="rId3">
            <a:alphaModFix/>
          </a:blip>
          <a:stretch>
            <a:fillRect/>
          </a:stretch>
        </p:blipFill>
        <p:spPr>
          <a:xfrm>
            <a:off x="2833875" y="1235000"/>
            <a:ext cx="3476250" cy="2673500"/>
          </a:xfrm>
          <a:prstGeom prst="rect">
            <a:avLst/>
          </a:prstGeom>
          <a:noFill/>
          <a:ln>
            <a:noFill/>
          </a:ln>
        </p:spPr>
      </p:pic>
      <p:sp>
        <p:nvSpPr>
          <p:cNvPr id="367" name="Google Shape;36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Few project outputs:</a:t>
            </a:r>
            <a:endParaRPr/>
          </a:p>
        </p:txBody>
      </p:sp>
      <p:pic>
        <p:nvPicPr>
          <p:cNvPr id="373" name="Google Shape;373;p45"/>
          <p:cNvPicPr preferRelativeResize="0"/>
          <p:nvPr/>
        </p:nvPicPr>
        <p:blipFill>
          <a:blip r:embed="rId3">
            <a:alphaModFix/>
          </a:blip>
          <a:stretch>
            <a:fillRect/>
          </a:stretch>
        </p:blipFill>
        <p:spPr>
          <a:xfrm>
            <a:off x="2877625" y="1017725"/>
            <a:ext cx="3388750" cy="2998776"/>
          </a:xfrm>
          <a:prstGeom prst="rect">
            <a:avLst/>
          </a:prstGeom>
          <a:noFill/>
          <a:ln>
            <a:noFill/>
          </a:ln>
        </p:spPr>
      </p:pic>
      <p:sp>
        <p:nvSpPr>
          <p:cNvPr id="374" name="Google Shape;37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Few project outputs:</a:t>
            </a:r>
            <a:endParaRPr/>
          </a:p>
        </p:txBody>
      </p:sp>
      <p:pic>
        <p:nvPicPr>
          <p:cNvPr id="380" name="Google Shape;380;p46"/>
          <p:cNvPicPr preferRelativeResize="0"/>
          <p:nvPr/>
        </p:nvPicPr>
        <p:blipFill>
          <a:blip r:embed="rId3">
            <a:alphaModFix/>
          </a:blip>
          <a:stretch>
            <a:fillRect/>
          </a:stretch>
        </p:blipFill>
        <p:spPr>
          <a:xfrm>
            <a:off x="2038350" y="1343025"/>
            <a:ext cx="5067300" cy="2457450"/>
          </a:xfrm>
          <a:prstGeom prst="rect">
            <a:avLst/>
          </a:prstGeom>
          <a:noFill/>
          <a:ln>
            <a:noFill/>
          </a:ln>
        </p:spPr>
      </p:pic>
      <p:sp>
        <p:nvSpPr>
          <p:cNvPr id="381" name="Google Shape;38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Articles</a:t>
            </a:r>
            <a:endParaRPr/>
          </a:p>
        </p:txBody>
      </p:sp>
      <p:sp>
        <p:nvSpPr>
          <p:cNvPr id="387" name="Google Shape;387;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00037" lvl="0" marL="457200" rtl="0" algn="l">
              <a:spcBef>
                <a:spcPts val="0"/>
              </a:spcBef>
              <a:spcAft>
                <a:spcPts val="0"/>
              </a:spcAft>
              <a:buSzPct val="100000"/>
              <a:buChar char="●"/>
            </a:pPr>
            <a:r>
              <a:rPr lang="en"/>
              <a:t>Yang, Pei, et al. "Parallelized training of restricted boltzmann machines using markov-chain monte carlo methods." SN Computer Science 1.3 (2020): 165.</a:t>
            </a:r>
            <a:endParaRPr/>
          </a:p>
          <a:p>
            <a:pPr indent="-300037" lvl="0" marL="457200" rtl="0" algn="l">
              <a:spcBef>
                <a:spcPts val="0"/>
              </a:spcBef>
              <a:spcAft>
                <a:spcPts val="0"/>
              </a:spcAft>
              <a:buSzPct val="100000"/>
              <a:buChar char="●"/>
            </a:pPr>
            <a:r>
              <a:rPr lang="en"/>
              <a:t>Zhu, Yun, Yanqing Zhang, and Yi Pan. "Large-scale restricted Boltzmann machines on single GPU." 2013 IEEE International Conference on Big Data. IEEE, 2013.</a:t>
            </a:r>
            <a:endParaRPr/>
          </a:p>
          <a:p>
            <a:pPr indent="-300037" lvl="0" marL="457200" rtl="0" algn="l">
              <a:spcBef>
                <a:spcPts val="0"/>
              </a:spcBef>
              <a:spcAft>
                <a:spcPts val="0"/>
              </a:spcAft>
              <a:buSzPct val="100000"/>
              <a:buChar char="●"/>
            </a:pPr>
            <a:r>
              <a:rPr lang="en"/>
              <a:t>Hinton, Geoffrey E. "A practical guide to training restricted Boltzmann machines." Neural Networks: Tricks of the Trade: Second Edition. Berlin, Heidelberg: Springer Berlin Heidelberg, 2012. 599-619.</a:t>
            </a:r>
            <a:endParaRPr/>
          </a:p>
          <a:p>
            <a:pPr indent="-300037" lvl="0" marL="457200" rtl="0" algn="l">
              <a:spcBef>
                <a:spcPts val="0"/>
              </a:spcBef>
              <a:spcAft>
                <a:spcPts val="0"/>
              </a:spcAft>
              <a:buSzPct val="100000"/>
              <a:buChar char="●"/>
            </a:pPr>
            <a:r>
              <a:rPr lang="en"/>
              <a:t>Horovod. “Horovod/Horovod: Distributed Training Framework for Tensorflow, Keras, Pytorch, and Apache MXNet.” GitHub, github.com/horovod/horovod. </a:t>
            </a:r>
            <a:endParaRPr/>
          </a:p>
          <a:p>
            <a:pPr indent="-300037" lvl="0" marL="457200" rtl="0" algn="l">
              <a:spcBef>
                <a:spcPts val="0"/>
              </a:spcBef>
              <a:spcAft>
                <a:spcPts val="0"/>
              </a:spcAft>
              <a:buSzPct val="100000"/>
              <a:buChar char="●"/>
            </a:pPr>
            <a:r>
              <a:rPr lang="en"/>
              <a:t>Echen. “GitHub - Echen/Restricted-boltzmann-machines: Restricted Boltzmann Machines in Python.” GitHub, github.com/echen/restricted-boltzmann-machines.</a:t>
            </a:r>
            <a:endParaRPr/>
          </a:p>
          <a:p>
            <a:pPr indent="-300037" lvl="0" marL="457200" rtl="0" algn="l">
              <a:spcBef>
                <a:spcPts val="0"/>
              </a:spcBef>
              <a:spcAft>
                <a:spcPts val="0"/>
              </a:spcAft>
              <a:buSzPct val="100000"/>
              <a:buChar char="●"/>
            </a:pPr>
            <a:r>
              <a:rPr lang="en"/>
              <a:t>Kurama, Vihar. “Beginner'S Guide to Boltzmann Machines in PyTorch | Paperspace Blog.” Paperspace Blog, 9 Apr. 2021, blog.paperspace.com/beginners-guide-to-boltzmann-machines-pytorch.</a:t>
            </a:r>
            <a:endParaRPr/>
          </a:p>
          <a:p>
            <a:pPr indent="-300037" lvl="0" marL="457200" rtl="0" algn="l">
              <a:spcBef>
                <a:spcPts val="0"/>
              </a:spcBef>
              <a:spcAft>
                <a:spcPts val="0"/>
              </a:spcAft>
              <a:buSzPct val="100000"/>
              <a:buChar char="●"/>
            </a:pPr>
            <a:r>
              <a:rPr lang="en"/>
              <a:t>“Parallelizing Python Code | Anyscale.” Anyscale,www.anyscale.com/blog/parallelizing-python-code.</a:t>
            </a:r>
            <a:endParaRPr/>
          </a:p>
          <a:p>
            <a:pPr indent="-300037" lvl="0" marL="457200" rtl="0" algn="l">
              <a:spcBef>
                <a:spcPts val="0"/>
              </a:spcBef>
              <a:spcAft>
                <a:spcPts val="0"/>
              </a:spcAft>
              <a:buSzPct val="100000"/>
              <a:buChar char="●"/>
            </a:pPr>
            <a:r>
              <a:rPr lang="en"/>
              <a:t>Cueto, María Angélica, Jason Morton, and Bernd Sturmfels. "Geometry of the restricted Boltzmann machine." Algebraic Methods in Statistics and Probability 516 (2010): 135-153.</a:t>
            </a:r>
            <a:endParaRPr/>
          </a:p>
          <a:p>
            <a:pPr indent="-300037" lvl="0" marL="457200" rtl="0" algn="l">
              <a:spcBef>
                <a:spcPts val="0"/>
              </a:spcBef>
              <a:spcAft>
                <a:spcPts val="0"/>
              </a:spcAft>
              <a:buSzPct val="100000"/>
              <a:buChar char="●"/>
            </a:pPr>
            <a:r>
              <a:rPr lang="en"/>
              <a:t>Serrano.Academy. “Restricted Boltzmann Machines (RBM) - a Friendly Introduction.” YouTube, 7 July 2020, www.youtube.com/watch?v=Fkw0_aAtwI</a:t>
            </a:r>
            <a:r>
              <a:rPr lang="en"/>
              <a:t>w.</a:t>
            </a:r>
            <a:endParaRPr/>
          </a:p>
          <a:p>
            <a:pPr indent="-300037" lvl="0" marL="457200" rtl="0" algn="l">
              <a:spcBef>
                <a:spcPts val="0"/>
              </a:spcBef>
              <a:spcAft>
                <a:spcPts val="0"/>
              </a:spcAft>
              <a:buSzPct val="100000"/>
              <a:buChar char="●"/>
            </a:pPr>
            <a:r>
              <a:rPr lang="en"/>
              <a:t>https://www.tensorflow.org/api_docs/python/tf/all_symbols</a:t>
            </a:r>
            <a:endParaRPr/>
          </a:p>
          <a:p>
            <a:pPr indent="-300037" lvl="0" marL="457200" rtl="0" algn="l">
              <a:spcBef>
                <a:spcPts val="0"/>
              </a:spcBef>
              <a:spcAft>
                <a:spcPts val="0"/>
              </a:spcAft>
              <a:buSzPct val="100000"/>
              <a:buChar char="●"/>
            </a:pPr>
            <a:r>
              <a:rPr lang="en"/>
              <a:t>https://docs.nvidia.com/cuda/</a:t>
            </a:r>
            <a:endParaRPr/>
          </a:p>
        </p:txBody>
      </p:sp>
      <p:sp>
        <p:nvSpPr>
          <p:cNvPr id="388" name="Google Shape;38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394" name="Google Shape;39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Slide speaker notes </a:t>
            </a:r>
            <a:endParaRPr/>
          </a:p>
        </p:txBody>
      </p:sp>
      <p:sp>
        <p:nvSpPr>
          <p:cNvPr id="400" name="Google Shape;400;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Slide 1: RBMs are a popular machine learning model used for a variety of tasks, including dimensionality reduction, feature learning, and many body quantum mechanics. There is scope for parallelizing RBM training, particularly during Gibbs sampling and normalization.</a:t>
            </a:r>
            <a:endParaRPr/>
          </a:p>
          <a:p>
            <a:pPr indent="0" lvl="0" marL="0" rtl="0" algn="l">
              <a:spcBef>
                <a:spcPts val="1200"/>
              </a:spcBef>
              <a:spcAft>
                <a:spcPts val="0"/>
              </a:spcAft>
              <a:buNone/>
            </a:pPr>
            <a:r>
              <a:rPr lang="en"/>
              <a:t>Slide 2:  They Enhance features or highlight important factors</a:t>
            </a:r>
            <a:endParaRPr/>
          </a:p>
          <a:p>
            <a:pPr indent="0" lvl="0" marL="0" rtl="0" algn="l">
              <a:spcBef>
                <a:spcPts val="1200"/>
              </a:spcBef>
              <a:spcAft>
                <a:spcPts val="1200"/>
              </a:spcAft>
              <a:buNone/>
            </a:pPr>
            <a:r>
              <a:rPr lang="en"/>
              <a:t>Slide 4: Here we can see the RBM algorithm it consists of matrix of W weights. Each weight is associated with connection between hidden and visible layers. a and b  are biases, visible and hidden layer nodes(their respective weights), W is weight between hidden and visible node Imagine you are trying to roll a ball down a hill. The ball will roll down the hill until it reaches the bottom, where the energy is lowest. The energy function of an RBM is like the hill. The visible and hidden layer activations are like the ball. The RBM is trying to roll the ball down the hill until it reaches the bottom, where the energy is lowest. The lower the energy, the more likely the visible and hidden layer activations are to be compatible. This is because the RBM is trying to learn the probability distribution of the input data. In order to learn the probability distribution of the input data, the RBM needs to minimize the energy function. This is why the RBM's energy function is negative. Here is a more concrete example: Imagine you are trying to learn the probability distribution of the following binary data: [0, 1, 0, 1] You can start by randomly initializing the visible and hidden layer activations. The energy function will be high because the visible and hidden layer activations are not compatible. You can then use the contrastive divergence algorithm to update the weights of the RBM. The contrastive divergence algorithm will update the weights in a way that minimizes the energy function. After a certain number of iterations, the contrastive divergence algorithm will converge. The RBM will have learned the probability distribution of the input data, and the energy function will be low. }</a:t>
            </a:r>
            <a:endParaRPr/>
          </a:p>
        </p:txBody>
      </p:sp>
      <p:sp>
        <p:nvSpPr>
          <p:cNvPr id="401" name="Google Shape;4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Slide 5: And this is the training algorithm used for our model. For RBM we mostly use Contrastive divergence algorithm which was originally used to train Product of Experts models (which highlights underlying structures). In simple terms we would be training Gibbs samples which is a Markov chain Monte Carlo algorithm.(for obtaining a sequence of observations which are approximated from a specified multivariate probability distribution, when direct sampling is difficult)</a:t>
            </a:r>
            <a:endParaRPr/>
          </a:p>
          <a:p>
            <a:pPr indent="0" lvl="0" marL="0" rtl="0" algn="l">
              <a:spcBef>
                <a:spcPts val="1200"/>
              </a:spcBef>
              <a:spcAft>
                <a:spcPts val="0"/>
              </a:spcAft>
              <a:buNone/>
            </a:pPr>
            <a:r>
              <a:rPr lang="en"/>
              <a:t>Slide 6: This approach to project was not this perfect as the model, initializing the environment will need execution was pretty difficult. Applying parallelization techniques and including libraries was daunting task for me. Every time we have to change the environment to suitable libraries.</a:t>
            </a:r>
            <a:endParaRPr/>
          </a:p>
          <a:p>
            <a:pPr indent="0" lvl="0" marL="0" rtl="0" algn="l">
              <a:spcBef>
                <a:spcPts val="1200"/>
              </a:spcBef>
              <a:spcAft>
                <a:spcPts val="0"/>
              </a:spcAft>
              <a:buNone/>
            </a:pPr>
            <a:r>
              <a:rPr lang="en"/>
              <a:t>Slide 7: The project was done in python jupyter notebook. Anaconda was used to set an environment which greatly helped in the project. Tensorflow was used to train the gibbs samples. As for parallelization we used Nvidia cuda toolkit and and tensorflow library(past tensorflow gpu) </a:t>
            </a:r>
            <a:endParaRPr/>
          </a:p>
          <a:p>
            <a:pPr indent="0" lvl="0" marL="0" rtl="0" algn="l">
              <a:spcBef>
                <a:spcPts val="1200"/>
              </a:spcBef>
              <a:spcAft>
                <a:spcPts val="0"/>
              </a:spcAft>
              <a:buNone/>
            </a:pPr>
            <a:r>
              <a:rPr lang="en"/>
              <a:t>Slide 8: I have used my laptop to compute the results. Few of the python libraries i used in this project. I had to revert few version each time i started using a library. Working of GPU in tensorflow was a bit tricky.</a:t>
            </a:r>
            <a:endParaRPr/>
          </a:p>
          <a:p>
            <a:pPr indent="0" lvl="0" marL="0" rtl="0" algn="l">
              <a:spcBef>
                <a:spcPts val="1200"/>
              </a:spcBef>
              <a:spcAft>
                <a:spcPts val="1200"/>
              </a:spcAft>
              <a:buNone/>
            </a:pPr>
            <a:r>
              <a:rPr lang="en"/>
              <a:t>Slide 10: This should have been a flowchart</a:t>
            </a:r>
            <a:endParaRPr/>
          </a:p>
        </p:txBody>
      </p:sp>
      <p:sp>
        <p:nvSpPr>
          <p:cNvPr id="407" name="Google Shape;40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Slide speaker notes </a:t>
            </a:r>
            <a:endParaRPr sz="1800"/>
          </a:p>
        </p:txBody>
      </p:sp>
      <p:sp>
        <p:nvSpPr>
          <p:cNvPr id="408" name="Google Shape;40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